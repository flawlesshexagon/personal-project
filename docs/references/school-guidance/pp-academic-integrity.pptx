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bold.fntdata"/><Relationship Id="rId10" Type="http://schemas.openxmlformats.org/officeDocument/2006/relationships/font" Target="fonts/Montserrat-regular.fntdata"/><Relationship Id="rId13" Type="http://schemas.openxmlformats.org/officeDocument/2006/relationships/font" Target="fonts/Montserrat-boldItalic.fntdata"/><Relationship Id="rId12"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86a9107e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86a9107e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86a9107e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f86a9107e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86a9107e8_0_12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86a9107e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86a9107e8_0_12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86a9107e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docs.google.com/document/d/1-q3VHtOusLTWkH_91ePo6uajwWnGUbMHTCEDQAyZQrg/edit?tab=t.0#heading=h.2y2sy6ibmb86"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JV9cLDCgas" TargetMode="Externa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o7MyM_V8-EA"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36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latin typeface="Montserrat"/>
                <a:ea typeface="Montserrat"/>
                <a:cs typeface="Montserrat"/>
                <a:sym typeface="Montserrat"/>
              </a:rPr>
              <a:t>Academic Integrity</a:t>
            </a:r>
            <a:endParaRPr b="1" u="sng">
              <a:latin typeface="Montserrat"/>
              <a:ea typeface="Montserrat"/>
              <a:cs typeface="Montserrat"/>
              <a:sym typeface="Montserrat"/>
            </a:endParaRPr>
          </a:p>
        </p:txBody>
      </p:sp>
      <p:sp>
        <p:nvSpPr>
          <p:cNvPr id="55" name="Google Shape;55;p13"/>
          <p:cNvSpPr txBox="1"/>
          <p:nvPr/>
        </p:nvSpPr>
        <p:spPr>
          <a:xfrm>
            <a:off x="102875" y="1086450"/>
            <a:ext cx="8583900" cy="2786100"/>
          </a:xfrm>
          <a:prstGeom prst="rect">
            <a:avLst/>
          </a:prstGeom>
          <a:solidFill>
            <a:srgbClr val="C9DAF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Montserrat"/>
                <a:ea typeface="Montserrat"/>
                <a:cs typeface="Montserrat"/>
                <a:sym typeface="Montserrat"/>
              </a:rPr>
              <a:t>What is Academic Integrity?</a:t>
            </a:r>
            <a:endParaRPr b="1" sz="2400">
              <a:solidFill>
                <a:schemeClr val="dk1"/>
              </a:solidFill>
              <a:latin typeface="Montserrat"/>
              <a:ea typeface="Montserrat"/>
              <a:cs typeface="Montserrat"/>
              <a:sym typeface="Montserrat"/>
            </a:endParaRPr>
          </a:p>
          <a:p>
            <a:pPr indent="-381000" lvl="0" marL="457200" rtl="0" algn="l">
              <a:spcBef>
                <a:spcPts val="1000"/>
              </a:spcBef>
              <a:spcAft>
                <a:spcPts val="0"/>
              </a:spcAft>
              <a:buClr>
                <a:schemeClr val="dk1"/>
              </a:buClr>
              <a:buSzPts val="2400"/>
              <a:buFont typeface="Montserrat"/>
              <a:buChar char="•"/>
            </a:pPr>
            <a:r>
              <a:rPr lang="en" sz="2400">
                <a:solidFill>
                  <a:schemeClr val="dk1"/>
                </a:solidFill>
                <a:latin typeface="Montserrat"/>
                <a:ea typeface="Montserrat"/>
                <a:cs typeface="Montserrat"/>
                <a:sym typeface="Montserrat"/>
              </a:rPr>
              <a:t>Academic integrity in the Personal Project means:</a:t>
            </a:r>
            <a:endParaRPr sz="2400">
              <a:solidFill>
                <a:schemeClr val="dk1"/>
              </a:solidFill>
              <a:latin typeface="Montserrat"/>
              <a:ea typeface="Montserrat"/>
              <a:cs typeface="Montserrat"/>
              <a:sym typeface="Montserrat"/>
            </a:endParaRPr>
          </a:p>
          <a:p>
            <a:pPr indent="-381000" lvl="1" marL="914400" rtl="0" algn="l">
              <a:spcBef>
                <a:spcPts val="1000"/>
              </a:spcBef>
              <a:spcAft>
                <a:spcPts val="0"/>
              </a:spcAft>
              <a:buClr>
                <a:schemeClr val="dk1"/>
              </a:buClr>
              <a:buSzPts val="2400"/>
              <a:buChar char="–"/>
            </a:pPr>
            <a:r>
              <a:rPr b="1" lang="en" sz="2400">
                <a:solidFill>
                  <a:schemeClr val="dk1"/>
                </a:solidFill>
                <a:latin typeface="Montserrat"/>
                <a:ea typeface="Montserrat"/>
                <a:cs typeface="Montserrat"/>
                <a:sym typeface="Montserrat"/>
              </a:rPr>
              <a:t>Producing original work</a:t>
            </a:r>
            <a:r>
              <a:rPr lang="en" sz="2400">
                <a:solidFill>
                  <a:schemeClr val="dk1"/>
                </a:solidFill>
                <a:latin typeface="Montserrat"/>
                <a:ea typeface="Montserrat"/>
                <a:cs typeface="Montserrat"/>
                <a:sym typeface="Montserrat"/>
              </a:rPr>
              <a:t> that represents your own efforts, thoughts, and understanding.</a:t>
            </a:r>
            <a:endParaRPr sz="2400">
              <a:solidFill>
                <a:schemeClr val="dk1"/>
              </a:solidFill>
              <a:latin typeface="Montserrat"/>
              <a:ea typeface="Montserrat"/>
              <a:cs typeface="Montserrat"/>
              <a:sym typeface="Montserrat"/>
            </a:endParaRPr>
          </a:p>
          <a:p>
            <a:pPr indent="-381000" lvl="1" marL="914400" rtl="0" algn="l">
              <a:spcBef>
                <a:spcPts val="1000"/>
              </a:spcBef>
              <a:spcAft>
                <a:spcPts val="1000"/>
              </a:spcAft>
              <a:buClr>
                <a:schemeClr val="dk1"/>
              </a:buClr>
              <a:buSzPts val="2400"/>
              <a:buChar char="–"/>
            </a:pPr>
            <a:r>
              <a:rPr b="1" lang="en" sz="2400">
                <a:solidFill>
                  <a:schemeClr val="dk1"/>
                </a:solidFill>
                <a:latin typeface="Montserrat"/>
                <a:ea typeface="Montserrat"/>
                <a:cs typeface="Montserrat"/>
                <a:sym typeface="Montserrat"/>
              </a:rPr>
              <a:t>Acknowledging all sources </a:t>
            </a:r>
            <a:r>
              <a:rPr lang="en" sz="2400">
                <a:solidFill>
                  <a:schemeClr val="dk1"/>
                </a:solidFill>
                <a:latin typeface="Montserrat"/>
                <a:ea typeface="Montserrat"/>
                <a:cs typeface="Montserrat"/>
                <a:sym typeface="Montserrat"/>
              </a:rPr>
              <a:t>of information, ideas, and creative works that are not your own.</a:t>
            </a:r>
            <a:endParaRPr sz="2400">
              <a:latin typeface="Montserrat"/>
              <a:ea typeface="Montserrat"/>
              <a:cs typeface="Montserrat"/>
              <a:sym typeface="Montserrat"/>
            </a:endParaRPr>
          </a:p>
        </p:txBody>
      </p:sp>
      <p:pic>
        <p:nvPicPr>
          <p:cNvPr id="56" name="Google Shape;56;p13"/>
          <p:cNvPicPr preferRelativeResize="0"/>
          <p:nvPr/>
        </p:nvPicPr>
        <p:blipFill>
          <a:blip r:embed="rId3">
            <a:alphaModFix/>
          </a:blip>
          <a:stretch>
            <a:fillRect/>
          </a:stretch>
        </p:blipFill>
        <p:spPr>
          <a:xfrm>
            <a:off x="7612350" y="3657575"/>
            <a:ext cx="1440199" cy="1440200"/>
          </a:xfrm>
          <a:prstGeom prst="rect">
            <a:avLst/>
          </a:prstGeom>
          <a:noFill/>
          <a:ln>
            <a:noFill/>
          </a:ln>
        </p:spPr>
      </p:pic>
      <p:sp>
        <p:nvSpPr>
          <p:cNvPr id="57" name="Google Shape;57;p13"/>
          <p:cNvSpPr txBox="1"/>
          <p:nvPr/>
        </p:nvSpPr>
        <p:spPr>
          <a:xfrm>
            <a:off x="150100" y="4133275"/>
            <a:ext cx="7412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Montserrat"/>
                <a:ea typeface="Montserrat"/>
                <a:cs typeface="Montserrat"/>
                <a:sym typeface="Montserrat"/>
                <a:hlinkClick r:id="rId4"/>
              </a:rPr>
              <a:t>Academic Integrity TIS US Policy</a:t>
            </a:r>
            <a:endParaRPr sz="1800">
              <a:solidFill>
                <a:schemeClr val="dk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25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Montserrat"/>
                <a:ea typeface="Montserrat"/>
                <a:cs typeface="Montserrat"/>
                <a:sym typeface="Montserrat"/>
              </a:rPr>
              <a:t>Academic Integrity - AI</a:t>
            </a:r>
            <a:endParaRPr b="1">
              <a:latin typeface="Montserrat"/>
              <a:ea typeface="Montserrat"/>
              <a:cs typeface="Montserrat"/>
              <a:sym typeface="Montserrat"/>
            </a:endParaRPr>
          </a:p>
        </p:txBody>
      </p:sp>
      <p:sp>
        <p:nvSpPr>
          <p:cNvPr id="63" name="Google Shape;63;p14"/>
          <p:cNvSpPr txBox="1"/>
          <p:nvPr>
            <p:ph idx="1" type="body"/>
          </p:nvPr>
        </p:nvSpPr>
        <p:spPr>
          <a:xfrm>
            <a:off x="311700" y="933125"/>
            <a:ext cx="8520600" cy="3416400"/>
          </a:xfrm>
          <a:prstGeom prst="rect">
            <a:avLst/>
          </a:prstGeom>
          <a:solidFill>
            <a:srgbClr val="C9DAF8"/>
          </a:solidFill>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sz="2400">
                <a:solidFill>
                  <a:schemeClr val="dk1"/>
                </a:solidFill>
                <a:latin typeface="Montserrat"/>
                <a:ea typeface="Montserrat"/>
                <a:cs typeface="Montserrat"/>
                <a:sym typeface="Montserrat"/>
              </a:rPr>
              <a:t>. You must not use AI to write any part of your report - this includes using </a:t>
            </a:r>
            <a:r>
              <a:rPr b="1" i="1" lang="en" sz="2400" u="sng">
                <a:solidFill>
                  <a:schemeClr val="dk1"/>
                </a:solidFill>
                <a:latin typeface="Montserrat"/>
                <a:ea typeface="Montserrat"/>
                <a:cs typeface="Montserrat"/>
                <a:sym typeface="Montserrat"/>
              </a:rPr>
              <a:t>grammarly</a:t>
            </a:r>
            <a:endParaRPr b="1" i="1" sz="2400" u="sng">
              <a:solidFill>
                <a:schemeClr val="dk1"/>
              </a:solidFill>
              <a:latin typeface="Montserrat"/>
              <a:ea typeface="Montserrat"/>
              <a:cs typeface="Montserrat"/>
              <a:sym typeface="Montserrat"/>
            </a:endParaRPr>
          </a:p>
          <a:p>
            <a:pPr indent="0" lvl="0" marL="0" rtl="0" algn="l">
              <a:spcBef>
                <a:spcPts val="1200"/>
              </a:spcBef>
              <a:spcAft>
                <a:spcPts val="0"/>
              </a:spcAft>
              <a:buNone/>
            </a:pPr>
            <a:r>
              <a:rPr lang="en" sz="2400">
                <a:solidFill>
                  <a:schemeClr val="dk1"/>
                </a:solidFill>
                <a:latin typeface="Montserrat"/>
                <a:ea typeface="Montserrat"/>
                <a:cs typeface="Montserrat"/>
                <a:sym typeface="Montserrat"/>
              </a:rPr>
              <a:t>. Your supervisor will be asked to sign an academic honesty form - if they do not believe that all of your report is written by you they will not sign off on this. </a:t>
            </a:r>
            <a:endParaRPr sz="2400">
              <a:solidFill>
                <a:schemeClr val="dk1"/>
              </a:solidFill>
              <a:latin typeface="Montserrat"/>
              <a:ea typeface="Montserrat"/>
              <a:cs typeface="Montserrat"/>
              <a:sym typeface="Montserrat"/>
            </a:endParaRPr>
          </a:p>
          <a:p>
            <a:pPr indent="0" lvl="0" marL="0" rtl="0" algn="l">
              <a:spcBef>
                <a:spcPts val="1200"/>
              </a:spcBef>
              <a:spcAft>
                <a:spcPts val="1200"/>
              </a:spcAft>
              <a:buNone/>
            </a:pPr>
            <a:r>
              <a:rPr lang="en" sz="2400">
                <a:solidFill>
                  <a:schemeClr val="dk1"/>
                </a:solidFill>
                <a:latin typeface="Montserrat"/>
                <a:ea typeface="Montserrat"/>
                <a:cs typeface="Montserrat"/>
                <a:sym typeface="Montserrat"/>
              </a:rPr>
              <a:t>. Keep drafts, notes and planning of your report so that we can look back at these and see how your ideas have developed. It is up to you to prove your work is your own.</a:t>
            </a:r>
            <a:endParaRPr sz="2400">
              <a:solidFill>
                <a:schemeClr val="dk1"/>
              </a:solidFill>
              <a:latin typeface="Montserrat"/>
              <a:ea typeface="Montserrat"/>
              <a:cs typeface="Montserrat"/>
              <a:sym typeface="Montserrat"/>
            </a:endParaRPr>
          </a:p>
        </p:txBody>
      </p:sp>
      <p:pic>
        <p:nvPicPr>
          <p:cNvPr id="64" name="Google Shape;64;p14"/>
          <p:cNvPicPr preferRelativeResize="0"/>
          <p:nvPr/>
        </p:nvPicPr>
        <p:blipFill>
          <a:blip r:embed="rId3">
            <a:alphaModFix/>
          </a:blip>
          <a:stretch>
            <a:fillRect/>
          </a:stretch>
        </p:blipFill>
        <p:spPr>
          <a:xfrm>
            <a:off x="7977900" y="4023125"/>
            <a:ext cx="1074649" cy="1074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87825" y="215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Montserrat"/>
                <a:ea typeface="Montserrat"/>
                <a:cs typeface="Montserrat"/>
                <a:sym typeface="Montserrat"/>
              </a:rPr>
              <a:t>Citing sources - Why and How to do it</a:t>
            </a:r>
            <a:endParaRPr b="1">
              <a:latin typeface="Montserrat"/>
              <a:ea typeface="Montserrat"/>
              <a:cs typeface="Montserrat"/>
              <a:sym typeface="Montserrat"/>
            </a:endParaRPr>
          </a:p>
        </p:txBody>
      </p:sp>
      <p:pic>
        <p:nvPicPr>
          <p:cNvPr descr="This tutorial will show you why you need to cite sources in your research paper and how to do it." id="70" name="Google Shape;70;p15" title="Citing Sources: Why &amp; How to Do It">
            <a:hlinkClick r:id="rId3"/>
          </p:cNvPr>
          <p:cNvPicPr preferRelativeResize="0"/>
          <p:nvPr/>
        </p:nvPicPr>
        <p:blipFill>
          <a:blip r:embed="rId4">
            <a:alphaModFix/>
          </a:blip>
          <a:stretch>
            <a:fillRect/>
          </a:stretch>
        </p:blipFill>
        <p:spPr>
          <a:xfrm>
            <a:off x="310100" y="787950"/>
            <a:ext cx="7482575" cy="4208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64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Montserrat"/>
                <a:ea typeface="Montserrat"/>
                <a:cs typeface="Montserrat"/>
                <a:sym typeface="Montserrat"/>
              </a:rPr>
              <a:t>Introduction to MLA Citation style</a:t>
            </a:r>
            <a:endParaRPr b="1">
              <a:latin typeface="Montserrat"/>
              <a:ea typeface="Montserrat"/>
              <a:cs typeface="Montserrat"/>
              <a:sym typeface="Montserrat"/>
            </a:endParaRPr>
          </a:p>
        </p:txBody>
      </p:sp>
      <p:pic>
        <p:nvPicPr>
          <p:cNvPr descr="This video introduces the purpose and basic conventions of citing sources in-text and Works Cited using the Modern Language Association (MLA) Style, 9th edition, 2021. For more citation help visit https://style.mla.org/" id="76" name="Google Shape;76;p16" title="Introduction to Citation Styles: MLA 9th ed.">
            <a:hlinkClick r:id="rId3"/>
          </p:cNvPr>
          <p:cNvPicPr preferRelativeResize="0"/>
          <p:nvPr/>
        </p:nvPicPr>
        <p:blipFill>
          <a:blip r:embed="rId4">
            <a:alphaModFix/>
          </a:blip>
          <a:stretch>
            <a:fillRect/>
          </a:stretch>
        </p:blipFill>
        <p:spPr>
          <a:xfrm>
            <a:off x="253725" y="837575"/>
            <a:ext cx="7032175" cy="3955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