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9144000"/>
  <p:notesSz cx="6858000" cy="9144000"/>
  <p:embeddedFontLst>
    <p:embeddedFont>
      <p:font typeface="Nunito SemiBold"/>
      <p:regular r:id="rId26"/>
      <p:bold r:id="rId27"/>
      <p:italic r:id="rId28"/>
      <p:boldItalic r:id="rId29"/>
    </p:embeddedFont>
    <p:embeddedFont>
      <p:font typeface="Nunito"/>
      <p:regular r:id="rId30"/>
      <p:bold r:id="rId31"/>
      <p:italic r:id="rId32"/>
      <p:boldItalic r:id="rId33"/>
    </p:embeddedFont>
    <p:embeddedFont>
      <p:font typeface="Nunito Sans SemiBold"/>
      <p:regular r:id="rId34"/>
      <p:bold r:id="rId35"/>
      <p:italic r:id="rId36"/>
      <p:boldItalic r:id="rId37"/>
    </p:embeddedFont>
    <p:embeddedFont>
      <p:font typeface="Nunito Sa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2880">
          <p15:clr>
            <a:srgbClr val="747775"/>
          </p15:clr>
        </p15:guide>
      </p15:sldGuideLst>
    </p:ext>
    <p:ext uri="GoogleSlidesCustomDataVersion2">
      <go:slidesCustomData xmlns:go="http://customooxmlschemas.google.com/" r:id="rId42" roundtripDataSignature="AMtx7mjqNonLCJ5UQCYktK7njPJAGsgN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4804F0E-9C23-4F1B-B267-A750618625AF}">
  <a:tblStyle styleId="{04804F0E-9C23-4F1B-B267-A750618625AF}"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C3B1330D-6BD1-4FA4-8FAF-BC396F8A9BD1}" styleName="Table_1">
    <a:wholeTbl>
      <a:tcTxStyle b="off" i="off">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45941D38-FAF8-4977-8D50-FB8890D63691}" styleName="Table_2">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Sans-italic.fntdata"/><Relationship Id="rId20" Type="http://schemas.openxmlformats.org/officeDocument/2006/relationships/slide" Target="slides/slide14.xml"/><Relationship Id="rId42" Type="http://customschemas.google.com/relationships/presentationmetadata" Target="metadata"/><Relationship Id="rId41" Type="http://schemas.openxmlformats.org/officeDocument/2006/relationships/font" Target="fonts/NunitoSans-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NunitoSemiBold-regular.fntdata"/><Relationship Id="rId25" Type="http://schemas.openxmlformats.org/officeDocument/2006/relationships/slide" Target="slides/slide19.xml"/><Relationship Id="rId28" Type="http://schemas.openxmlformats.org/officeDocument/2006/relationships/font" Target="fonts/NunitoSemiBold-italic.fntdata"/><Relationship Id="rId27" Type="http://schemas.openxmlformats.org/officeDocument/2006/relationships/font" Target="fonts/NunitoSemiBold-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NunitoSemiBold-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unito-bold.fntdata"/><Relationship Id="rId30" Type="http://schemas.openxmlformats.org/officeDocument/2006/relationships/font" Target="fonts/Nunito-regular.fntdata"/><Relationship Id="rId11" Type="http://schemas.openxmlformats.org/officeDocument/2006/relationships/slide" Target="slides/slide5.xml"/><Relationship Id="rId33" Type="http://schemas.openxmlformats.org/officeDocument/2006/relationships/font" Target="fonts/Nunito-boldItalic.fntdata"/><Relationship Id="rId10" Type="http://schemas.openxmlformats.org/officeDocument/2006/relationships/slide" Target="slides/slide4.xml"/><Relationship Id="rId32" Type="http://schemas.openxmlformats.org/officeDocument/2006/relationships/font" Target="fonts/Nunito-italic.fntdata"/><Relationship Id="rId13" Type="http://schemas.openxmlformats.org/officeDocument/2006/relationships/slide" Target="slides/slide7.xml"/><Relationship Id="rId35" Type="http://schemas.openxmlformats.org/officeDocument/2006/relationships/font" Target="fonts/NunitoSansSemiBold-bold.fntdata"/><Relationship Id="rId12" Type="http://schemas.openxmlformats.org/officeDocument/2006/relationships/slide" Target="slides/slide6.xml"/><Relationship Id="rId34" Type="http://schemas.openxmlformats.org/officeDocument/2006/relationships/font" Target="fonts/NunitoSansSemiBold-regular.fntdata"/><Relationship Id="rId15" Type="http://schemas.openxmlformats.org/officeDocument/2006/relationships/slide" Target="slides/slide9.xml"/><Relationship Id="rId37" Type="http://schemas.openxmlformats.org/officeDocument/2006/relationships/font" Target="fonts/NunitoSansSemiBold-boldItalic.fntdata"/><Relationship Id="rId14" Type="http://schemas.openxmlformats.org/officeDocument/2006/relationships/slide" Target="slides/slide8.xml"/><Relationship Id="rId36" Type="http://schemas.openxmlformats.org/officeDocument/2006/relationships/font" Target="fonts/NunitoSansSemiBold-italic.fntdata"/><Relationship Id="rId17" Type="http://schemas.openxmlformats.org/officeDocument/2006/relationships/slide" Target="slides/slide11.xml"/><Relationship Id="rId39" Type="http://schemas.openxmlformats.org/officeDocument/2006/relationships/font" Target="fonts/NunitoSans-bold.fntdata"/><Relationship Id="rId16" Type="http://schemas.openxmlformats.org/officeDocument/2006/relationships/slide" Target="slides/slide10.xml"/><Relationship Id="rId38" Type="http://schemas.openxmlformats.org/officeDocument/2006/relationships/font" Target="fonts/NunitoSans-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820077ca82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 name="Google Shape;56;g3820077ca8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820077ca82_0_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g3820077ca82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820077ca82_0_1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g3820077ca82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0"/>
          <p:cNvSpPr txBox="1"/>
          <p:nvPr>
            <p:ph type="ctrTitle"/>
          </p:nvPr>
        </p:nvSpPr>
        <p:spPr>
          <a:xfrm>
            <a:off x="311708" y="992767"/>
            <a:ext cx="8520600" cy="2736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0"/>
          <p:cNvSpPr txBox="1"/>
          <p:nvPr>
            <p:ph idx="1" type="subTitle"/>
          </p:nvPr>
        </p:nvSpPr>
        <p:spPr>
          <a:xfrm>
            <a:off x="311700" y="3778833"/>
            <a:ext cx="8520600" cy="10569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0"/>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2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2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2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22"/>
          <p:cNvSpPr txBox="1"/>
          <p:nvPr>
            <p:ph type="title"/>
          </p:nvPr>
        </p:nvSpPr>
        <p:spPr>
          <a:xfrm>
            <a:off x="311700" y="2867800"/>
            <a:ext cx="8520600" cy="112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2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3"/>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3"/>
          <p:cNvSpPr txBox="1"/>
          <p:nvPr>
            <p:ph idx="1" type="body"/>
          </p:nvPr>
        </p:nvSpPr>
        <p:spPr>
          <a:xfrm>
            <a:off x="311700" y="1536633"/>
            <a:ext cx="39999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23"/>
          <p:cNvSpPr txBox="1"/>
          <p:nvPr>
            <p:ph idx="2" type="body"/>
          </p:nvPr>
        </p:nvSpPr>
        <p:spPr>
          <a:xfrm>
            <a:off x="4832400" y="1536633"/>
            <a:ext cx="39999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4"/>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5"/>
          <p:cNvSpPr txBox="1"/>
          <p:nvPr>
            <p:ph type="title"/>
          </p:nvPr>
        </p:nvSpPr>
        <p:spPr>
          <a:xfrm>
            <a:off x="311700" y="740800"/>
            <a:ext cx="2808000" cy="1007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5"/>
          <p:cNvSpPr txBox="1"/>
          <p:nvPr>
            <p:ph idx="1" type="body"/>
          </p:nvPr>
        </p:nvSpPr>
        <p:spPr>
          <a:xfrm>
            <a:off x="311700" y="1852800"/>
            <a:ext cx="2808000" cy="42393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5"/>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6"/>
          <p:cNvSpPr txBox="1"/>
          <p:nvPr>
            <p:ph type="title"/>
          </p:nvPr>
        </p:nvSpPr>
        <p:spPr>
          <a:xfrm>
            <a:off x="490250" y="600200"/>
            <a:ext cx="6367800" cy="5454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6"/>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7"/>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7"/>
          <p:cNvSpPr txBox="1"/>
          <p:nvPr>
            <p:ph type="title"/>
          </p:nvPr>
        </p:nvSpPr>
        <p:spPr>
          <a:xfrm>
            <a:off x="265500" y="1644233"/>
            <a:ext cx="40452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7"/>
          <p:cNvSpPr txBox="1"/>
          <p:nvPr>
            <p:ph idx="1" type="subTitle"/>
          </p:nvPr>
        </p:nvSpPr>
        <p:spPr>
          <a:xfrm>
            <a:off x="265500" y="3737433"/>
            <a:ext cx="4045200" cy="16467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7"/>
          <p:cNvSpPr txBox="1"/>
          <p:nvPr>
            <p:ph idx="2" type="body"/>
          </p:nvPr>
        </p:nvSpPr>
        <p:spPr>
          <a:xfrm>
            <a:off x="4939500" y="965433"/>
            <a:ext cx="3837000" cy="49269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7"/>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8"/>
          <p:cNvSpPr txBox="1"/>
          <p:nvPr>
            <p:ph idx="1" type="body"/>
          </p:nvPr>
        </p:nvSpPr>
        <p:spPr>
          <a:xfrm>
            <a:off x="311700" y="5640767"/>
            <a:ext cx="5998800" cy="8067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8"/>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9"/>
          <p:cNvSpPr txBox="1"/>
          <p:nvPr>
            <p:ph hasCustomPrompt="1" type="title"/>
          </p:nvPr>
        </p:nvSpPr>
        <p:spPr>
          <a:xfrm>
            <a:off x="311700" y="1474833"/>
            <a:ext cx="8520600" cy="26181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9"/>
          <p:cNvSpPr txBox="1"/>
          <p:nvPr>
            <p:ph idx="1" type="body"/>
          </p:nvPr>
        </p:nvSpPr>
        <p:spPr>
          <a:xfrm>
            <a:off x="311700" y="4202967"/>
            <a:ext cx="8520600" cy="17343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9"/>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30"/>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obj">
  <p:cSld name="OBJECT">
    <p:spTree>
      <p:nvGrpSpPr>
        <p:cNvPr id="50" name="Shape 50"/>
        <p:cNvGrpSpPr/>
        <p:nvPr/>
      </p:nvGrpSpPr>
      <p:grpSpPr>
        <a:xfrm>
          <a:off x="0" y="0"/>
          <a:ext cx="0" cy="0"/>
          <a:chOff x="0" y="0"/>
          <a:chExt cx="0" cy="0"/>
        </a:xfrm>
      </p:grpSpPr>
      <p:sp>
        <p:nvSpPr>
          <p:cNvPr id="51" name="Google Shape;51;p31"/>
          <p:cNvSpPr txBox="1"/>
          <p:nvPr>
            <p:ph idx="11" type="ftr"/>
          </p:nvPr>
        </p:nvSpPr>
        <p:spPr>
          <a:xfrm>
            <a:off x="3108960" y="6377940"/>
            <a:ext cx="292590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9pPr>
          </a:lstStyle>
          <a:p/>
        </p:txBody>
      </p:sp>
      <p:sp>
        <p:nvSpPr>
          <p:cNvPr id="52" name="Google Shape;52;p31"/>
          <p:cNvSpPr txBox="1"/>
          <p:nvPr>
            <p:ph idx="10" type="dt"/>
          </p:nvPr>
        </p:nvSpPr>
        <p:spPr>
          <a:xfrm>
            <a:off x="457200" y="6377940"/>
            <a:ext cx="210300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9pPr>
          </a:lstStyle>
          <a:p/>
        </p:txBody>
      </p:sp>
      <p:sp>
        <p:nvSpPr>
          <p:cNvPr id="53" name="Google Shape;53;p31"/>
          <p:cNvSpPr txBox="1"/>
          <p:nvPr>
            <p:ph idx="12" type="sldNum"/>
          </p:nvPr>
        </p:nvSpPr>
        <p:spPr>
          <a:xfrm>
            <a:off x="6583680" y="6377940"/>
            <a:ext cx="2103000" cy="153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9"/>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9"/>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12.png"/><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7.png"/><Relationship Id="rId9" Type="http://schemas.openxmlformats.org/officeDocument/2006/relationships/image" Target="../media/image14.png"/><Relationship Id="rId5" Type="http://schemas.openxmlformats.org/officeDocument/2006/relationships/image" Target="../media/image13.png"/><Relationship Id="rId6" Type="http://schemas.openxmlformats.org/officeDocument/2006/relationships/image" Target="../media/image3.png"/><Relationship Id="rId7" Type="http://schemas.openxmlformats.org/officeDocument/2006/relationships/image" Target="../media/image5.png"/><Relationship Id="rId8"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14.png"/><Relationship Id="rId8"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9EB"/>
        </a:solidFill>
      </p:bgPr>
    </p:bg>
    <p:spTree>
      <p:nvGrpSpPr>
        <p:cNvPr id="57" name="Shape 57"/>
        <p:cNvGrpSpPr/>
        <p:nvPr/>
      </p:nvGrpSpPr>
      <p:grpSpPr>
        <a:xfrm>
          <a:off x="0" y="0"/>
          <a:ext cx="0" cy="0"/>
          <a:chOff x="0" y="0"/>
          <a:chExt cx="0" cy="0"/>
        </a:xfrm>
      </p:grpSpPr>
      <p:sp>
        <p:nvSpPr>
          <p:cNvPr id="58" name="Google Shape;58;g3820077ca82_0_0"/>
          <p:cNvSpPr txBox="1"/>
          <p:nvPr>
            <p:ph idx="4294967295" type="title"/>
          </p:nvPr>
        </p:nvSpPr>
        <p:spPr>
          <a:xfrm>
            <a:off x="2059350" y="2950881"/>
            <a:ext cx="5025300" cy="50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1800">
                <a:latin typeface="Nunito Sans"/>
                <a:ea typeface="Nunito Sans"/>
                <a:cs typeface="Nunito Sans"/>
                <a:sym typeface="Nunito Sans"/>
              </a:rPr>
              <a:t>Learning goals templates </a:t>
            </a:r>
            <a:endParaRPr b="1" sz="1800">
              <a:latin typeface="Nunito Sans"/>
              <a:ea typeface="Nunito Sans"/>
              <a:cs typeface="Nunito Sans"/>
              <a:sym typeface="Nunito Sans"/>
            </a:endParaRPr>
          </a:p>
        </p:txBody>
      </p:sp>
      <p:sp>
        <p:nvSpPr>
          <p:cNvPr id="59" name="Google Shape;59;g3820077ca82_0_0"/>
          <p:cNvSpPr txBox="1"/>
          <p:nvPr>
            <p:ph idx="4294967295" type="body"/>
          </p:nvPr>
        </p:nvSpPr>
        <p:spPr>
          <a:xfrm>
            <a:off x="2810700" y="3414281"/>
            <a:ext cx="3522600" cy="11259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SzPts val="1800"/>
              <a:buNone/>
            </a:pPr>
            <a:r>
              <a:rPr lang="en" sz="1200">
                <a:solidFill>
                  <a:schemeClr val="dk1"/>
                </a:solidFill>
                <a:latin typeface="Nunito Sans"/>
                <a:ea typeface="Nunito Sans"/>
                <a:cs typeface="Nunito Sans"/>
                <a:sym typeface="Nunito Sans"/>
              </a:rPr>
              <a:t>These templates will enable you to </a:t>
            </a:r>
            <a:r>
              <a:rPr lang="en" sz="1200">
                <a:solidFill>
                  <a:schemeClr val="dk1"/>
                </a:solidFill>
                <a:latin typeface="Nunito Sans SemiBold"/>
                <a:ea typeface="Nunito Sans SemiBold"/>
                <a:cs typeface="Nunito Sans SemiBold"/>
                <a:sym typeface="Nunito Sans SemiBold"/>
              </a:rPr>
              <a:t>state a learning goal for your project</a:t>
            </a:r>
            <a:r>
              <a:rPr lang="en" sz="1200">
                <a:solidFill>
                  <a:schemeClr val="dk1"/>
                </a:solidFill>
                <a:latin typeface="Nunito Sans"/>
                <a:ea typeface="Nunito Sans"/>
                <a:cs typeface="Nunito Sans"/>
                <a:sym typeface="Nunito Sans"/>
              </a:rPr>
              <a:t> and </a:t>
            </a:r>
            <a:r>
              <a:rPr lang="en" sz="1200">
                <a:solidFill>
                  <a:schemeClr val="dk1"/>
                </a:solidFill>
                <a:latin typeface="Nunito Sans SemiBold"/>
                <a:ea typeface="Nunito Sans SemiBold"/>
                <a:cs typeface="Nunito Sans SemiBold"/>
                <a:sym typeface="Nunito Sans SemiBold"/>
              </a:rPr>
              <a:t>explain how a personal interest led you to that goal.</a:t>
            </a:r>
            <a:endParaRPr sz="1200">
              <a:solidFill>
                <a:schemeClr val="dk1"/>
              </a:solidFill>
              <a:latin typeface="Nunito Sans SemiBold"/>
              <a:ea typeface="Nunito Sans SemiBold"/>
              <a:cs typeface="Nunito Sans SemiBold"/>
              <a:sym typeface="Nunito Sans SemiBold"/>
            </a:endParaRPr>
          </a:p>
        </p:txBody>
      </p:sp>
      <p:pic>
        <p:nvPicPr>
          <p:cNvPr id="60" name="Google Shape;60;g3820077ca82_0_0"/>
          <p:cNvPicPr preferRelativeResize="0"/>
          <p:nvPr/>
        </p:nvPicPr>
        <p:blipFill rotWithShape="1">
          <a:blip r:embed="rId3">
            <a:alphaModFix/>
          </a:blip>
          <a:srcRect b="0" l="0" r="0" t="0"/>
          <a:stretch/>
        </p:blipFill>
        <p:spPr>
          <a:xfrm>
            <a:off x="4201663" y="1945140"/>
            <a:ext cx="740664" cy="7406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g3820077ca82_0_6"/>
          <p:cNvSpPr txBox="1"/>
          <p:nvPr/>
        </p:nvSpPr>
        <p:spPr>
          <a:xfrm>
            <a:off x="573300" y="989051"/>
            <a:ext cx="77862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Describe your goal and explain how it meets each of the heading requirements.</a:t>
            </a:r>
            <a:endParaRPr b="0" i="0" sz="1200" u="none" cap="none" strike="noStrike">
              <a:solidFill>
                <a:schemeClr val="dk1"/>
              </a:solidFill>
              <a:latin typeface="Nunito Sans"/>
              <a:ea typeface="Nunito Sans"/>
              <a:cs typeface="Nunito Sans"/>
              <a:sym typeface="Nunito Sans"/>
            </a:endParaRPr>
          </a:p>
        </p:txBody>
      </p:sp>
      <p:sp>
        <p:nvSpPr>
          <p:cNvPr id="66" name="Google Shape;66;g3820077ca82_0_6"/>
          <p:cNvSpPr txBox="1"/>
          <p:nvPr/>
        </p:nvSpPr>
        <p:spPr>
          <a:xfrm>
            <a:off x="573300" y="518517"/>
            <a:ext cx="3000000" cy="404100"/>
          </a:xfrm>
          <a:prstGeom prst="rect">
            <a:avLst/>
          </a:prstGeom>
          <a:noFill/>
          <a:ln>
            <a:noFill/>
          </a:ln>
        </p:spPr>
        <p:txBody>
          <a:bodyPr anchorCtr="0" anchor="t" bIns="91425" lIns="91425" spcFirstLastPara="1" rIns="91425" wrap="square" tIns="91425">
            <a:spAutoFit/>
          </a:bodyPr>
          <a:lstStyle/>
          <a:p>
            <a:pPr indent="0" lvl="0" marL="0" marR="0" rtl="0" algn="l">
              <a:lnSpc>
                <a:spcPct val="95000"/>
              </a:lnSpc>
              <a:spcBef>
                <a:spcPts val="0"/>
              </a:spcBef>
              <a:spcAft>
                <a:spcPts val="0"/>
              </a:spcAft>
              <a:buClr>
                <a:srgbClr val="000000"/>
              </a:buClr>
              <a:buSzPts val="1500"/>
              <a:buFont typeface="Arial"/>
              <a:buNone/>
            </a:pPr>
            <a:r>
              <a:rPr b="1" i="0" lang="en" sz="1500" u="none" cap="none" strike="noStrike">
                <a:solidFill>
                  <a:schemeClr val="dk1"/>
                </a:solidFill>
                <a:highlight>
                  <a:srgbClr val="FFF9EB"/>
                </a:highlight>
                <a:latin typeface="Nunito Sans"/>
                <a:ea typeface="Nunito Sans"/>
                <a:cs typeface="Nunito Sans"/>
                <a:sym typeface="Nunito Sans"/>
              </a:rPr>
              <a:t>SMART goals</a:t>
            </a:r>
            <a:endParaRPr b="1" i="0" sz="1500" u="none" cap="none" strike="noStrike">
              <a:solidFill>
                <a:schemeClr val="dk1"/>
              </a:solidFill>
              <a:highlight>
                <a:srgbClr val="FFF9EB"/>
              </a:highlight>
              <a:latin typeface="Nunito Sans"/>
              <a:ea typeface="Nunito Sans"/>
              <a:cs typeface="Nunito Sans"/>
              <a:sym typeface="Nunito Sans"/>
            </a:endParaRPr>
          </a:p>
        </p:txBody>
      </p:sp>
      <p:graphicFrame>
        <p:nvGraphicFramePr>
          <p:cNvPr id="67" name="Google Shape;67;g3820077ca82_0_6"/>
          <p:cNvGraphicFramePr/>
          <p:nvPr/>
        </p:nvGraphicFramePr>
        <p:xfrm>
          <a:off x="678888" y="1654663"/>
          <a:ext cx="3000000" cy="3000000"/>
        </p:xfrm>
        <a:graphic>
          <a:graphicData uri="http://schemas.openxmlformats.org/drawingml/2006/table">
            <a:tbl>
              <a:tblPr>
                <a:noFill/>
                <a:tableStyleId>{04804F0E-9C23-4F1B-B267-A750618625AF}</a:tableStyleId>
              </a:tblPr>
              <a:tblGrid>
                <a:gridCol w="896450"/>
                <a:gridCol w="3184900"/>
                <a:gridCol w="1846750"/>
                <a:gridCol w="961525"/>
                <a:gridCol w="896575"/>
              </a:tblGrid>
              <a:tr h="684000">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solidFill>
                            <a:srgbClr val="000000"/>
                          </a:solidFill>
                          <a:latin typeface="Nunito Sans SemiBold"/>
                          <a:ea typeface="Nunito Sans SemiBold"/>
                          <a:cs typeface="Nunito Sans SemiBold"/>
                          <a:sym typeface="Nunito Sans SemiBold"/>
                        </a:rPr>
                        <a:t>Aspect</a:t>
                      </a:r>
                      <a:endParaRPr sz="1500" u="none" cap="none" strike="noStrike">
                        <a:latin typeface="Nunito Sans SemiBold"/>
                        <a:ea typeface="Nunito Sans SemiBold"/>
                        <a:cs typeface="Nunito Sans SemiBold"/>
                        <a:sym typeface="Nunito Sans SemiBold"/>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solidFill>
                      <a:srgbClr val="FFF9EB"/>
                    </a:solidFill>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SemiBold"/>
                        <a:ea typeface="Nunito Sans SemiBold"/>
                        <a:cs typeface="Nunito Sans SemiBold"/>
                        <a:sym typeface="Nunito Sans SemiBold"/>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solidFill>
                      <a:srgbClr val="FFF9EB"/>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solidFill>
                            <a:srgbClr val="000000"/>
                          </a:solidFill>
                          <a:latin typeface="Nunito Sans SemiBold"/>
                          <a:ea typeface="Nunito Sans SemiBold"/>
                          <a:cs typeface="Nunito Sans SemiBold"/>
                          <a:sym typeface="Nunito Sans SemiBold"/>
                        </a:rPr>
                        <a:t>Description of</a:t>
                      </a:r>
                      <a:r>
                        <a:rPr lang="en" sz="1500" u="none" cap="none" strike="noStrike">
                          <a:latin typeface="Nunito Sans SemiBold"/>
                          <a:ea typeface="Nunito Sans SemiBold"/>
                          <a:cs typeface="Nunito Sans SemiBold"/>
                          <a:sym typeface="Nunito Sans SemiBold"/>
                        </a:rPr>
                        <a:t> </a:t>
                      </a:r>
                      <a:r>
                        <a:rPr lang="en" sz="1500" u="none" cap="none" strike="noStrike">
                          <a:solidFill>
                            <a:srgbClr val="000000"/>
                          </a:solidFill>
                          <a:latin typeface="Nunito Sans SemiBold"/>
                          <a:ea typeface="Nunito Sans SemiBold"/>
                          <a:cs typeface="Nunito Sans SemiBold"/>
                          <a:sym typeface="Nunito Sans SemiBold"/>
                        </a:rPr>
                        <a:t>my goal</a:t>
                      </a:r>
                      <a:endParaRPr sz="1500" u="none" cap="none" strike="noStrike">
                        <a:latin typeface="Nunito Sans SemiBold"/>
                        <a:ea typeface="Nunito Sans SemiBold"/>
                        <a:cs typeface="Nunito Sans SemiBold"/>
                        <a:sym typeface="Nunito Sans SemiBold"/>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solidFill>
                      <a:srgbClr val="FFF9EB"/>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solidFill>
                            <a:srgbClr val="000000"/>
                          </a:solidFill>
                          <a:latin typeface="Nunito Sans SemiBold"/>
                          <a:ea typeface="Nunito Sans SemiBold"/>
                          <a:cs typeface="Nunito Sans SemiBold"/>
                          <a:sym typeface="Nunito Sans SemiBold"/>
                        </a:rPr>
                        <a:t>Yes</a:t>
                      </a:r>
                      <a:endParaRPr sz="1500" u="none" cap="none" strike="noStrike">
                        <a:latin typeface="Nunito Sans SemiBold"/>
                        <a:ea typeface="Nunito Sans SemiBold"/>
                        <a:cs typeface="Nunito Sans SemiBold"/>
                        <a:sym typeface="Nunito Sans SemiBold"/>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solidFill>
                      <a:srgbClr val="FFF9EB"/>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solidFill>
                            <a:srgbClr val="000000"/>
                          </a:solidFill>
                          <a:latin typeface="Nunito Sans SemiBold"/>
                          <a:ea typeface="Nunito Sans SemiBold"/>
                          <a:cs typeface="Nunito Sans SemiBold"/>
                          <a:sym typeface="Nunito Sans SemiBold"/>
                        </a:rPr>
                        <a:t>No</a:t>
                      </a:r>
                      <a:endParaRPr sz="1500" u="none" cap="none" strike="noStrike">
                        <a:latin typeface="Nunito Sans SemiBold"/>
                        <a:ea typeface="Nunito Sans SemiBold"/>
                        <a:cs typeface="Nunito Sans SemiBold"/>
                        <a:sym typeface="Nunito Sans SemiBold"/>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solidFill>
                      <a:srgbClr val="FFF9EB"/>
                    </a:solidFill>
                  </a:tcPr>
                </a:tc>
              </a:tr>
              <a:tr h="1309800">
                <a:tc>
                  <a:txBody>
                    <a:bodyPr/>
                    <a:lstStyle/>
                    <a:p>
                      <a:pPr indent="0" lvl="0" marL="0" marR="0" rtl="0" algn="ctr">
                        <a:lnSpc>
                          <a:spcPct val="115000"/>
                        </a:lnSpc>
                        <a:spcBef>
                          <a:spcPts val="0"/>
                        </a:spcBef>
                        <a:spcAft>
                          <a:spcPts val="0"/>
                        </a:spcAft>
                        <a:buClr>
                          <a:srgbClr val="000000"/>
                        </a:buClr>
                        <a:buSzPts val="1700"/>
                        <a:buFont typeface="Arial"/>
                        <a:buNone/>
                      </a:pPr>
                      <a:r>
                        <a:rPr b="1" lang="en" sz="1700" u="none" cap="none" strike="noStrike">
                          <a:solidFill>
                            <a:srgbClr val="C28200"/>
                          </a:solidFill>
                          <a:latin typeface="Nunito Sans"/>
                          <a:ea typeface="Nunito Sans"/>
                          <a:cs typeface="Nunito Sans"/>
                          <a:sym typeface="Nunito Sans"/>
                        </a:rPr>
                        <a:t>S</a:t>
                      </a:r>
                      <a:endParaRPr sz="1700" u="none" cap="none" strike="noStrike">
                        <a:solidFill>
                          <a:srgbClr val="C28200"/>
                        </a:solidFill>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rgbClr val="000000"/>
                          </a:solidFill>
                          <a:latin typeface="Nunito Sans"/>
                          <a:ea typeface="Nunito Sans"/>
                          <a:cs typeface="Nunito Sans"/>
                          <a:sym typeface="Nunito Sans"/>
                        </a:rPr>
                        <a:t>Specific</a:t>
                      </a:r>
                      <a:r>
                        <a:rPr lang="en" sz="1100" u="none" cap="none" strike="noStrike">
                          <a:latin typeface="Nunito Sans"/>
                          <a:ea typeface="Nunito Sans"/>
                          <a:cs typeface="Nunito Sans"/>
                          <a:sym typeface="Nunito Sans"/>
                        </a:rPr>
                        <a:t>: </a:t>
                      </a:r>
                      <a:r>
                        <a:rPr lang="en" sz="1100" u="none" cap="none" strike="noStrike">
                          <a:solidFill>
                            <a:srgbClr val="000000"/>
                          </a:solidFill>
                          <a:latin typeface="Nunito Sans"/>
                          <a:ea typeface="Nunito Sans"/>
                          <a:cs typeface="Nunito Sans"/>
                          <a:sym typeface="Nunito Sans"/>
                        </a:rPr>
                        <a:t>Answer the following questions:</a:t>
                      </a:r>
                      <a:endParaRPr sz="1100" u="none" cap="none" strike="noStrike">
                        <a:solidFill>
                          <a:srgbClr val="000000"/>
                        </a:solidFill>
                        <a:latin typeface="Nunito Sans"/>
                        <a:ea typeface="Nunito Sans"/>
                        <a:cs typeface="Nunito Sans"/>
                        <a:sym typeface="Nunito Sans"/>
                      </a:endParaRPr>
                    </a:p>
                    <a:p>
                      <a:pPr indent="0" lvl="0" marL="342900" marR="0" rtl="0" algn="l">
                        <a:lnSpc>
                          <a:spcPct val="115000"/>
                        </a:lnSpc>
                        <a:spcBef>
                          <a:spcPts val="0"/>
                        </a:spcBef>
                        <a:spcAft>
                          <a:spcPts val="0"/>
                        </a:spcAft>
                        <a:buClr>
                          <a:srgbClr val="000000"/>
                        </a:buClr>
                        <a:buSzPts val="1100"/>
                        <a:buFont typeface="Arial"/>
                        <a:buNone/>
                      </a:pPr>
                      <a:r>
                        <a:rPr lang="en" sz="1100" u="none" cap="none" strike="noStrike">
                          <a:solidFill>
                            <a:srgbClr val="000000"/>
                          </a:solidFill>
                          <a:latin typeface="Nunito Sans"/>
                          <a:ea typeface="Nunito Sans"/>
                          <a:cs typeface="Nunito Sans"/>
                          <a:sym typeface="Nunito Sans"/>
                        </a:rPr>
                        <a:t>1.	What do I want to do?</a:t>
                      </a:r>
                      <a:endParaRPr sz="1100" u="none" cap="none" strike="noStrike">
                        <a:solidFill>
                          <a:srgbClr val="000000"/>
                        </a:solidFill>
                        <a:latin typeface="Nunito Sans"/>
                        <a:ea typeface="Nunito Sans"/>
                        <a:cs typeface="Nunito Sans"/>
                        <a:sym typeface="Nunito Sans"/>
                      </a:endParaRPr>
                    </a:p>
                    <a:p>
                      <a:pPr indent="0" lvl="0" marL="342900" marR="0" rtl="0" algn="l">
                        <a:lnSpc>
                          <a:spcPct val="115000"/>
                        </a:lnSpc>
                        <a:spcBef>
                          <a:spcPts val="0"/>
                        </a:spcBef>
                        <a:spcAft>
                          <a:spcPts val="0"/>
                        </a:spcAft>
                        <a:buClr>
                          <a:srgbClr val="000000"/>
                        </a:buClr>
                        <a:buSzPts val="1100"/>
                        <a:buFont typeface="Arial"/>
                        <a:buNone/>
                      </a:pPr>
                      <a:r>
                        <a:rPr lang="en" sz="1100" u="none" cap="none" strike="noStrike">
                          <a:solidFill>
                            <a:srgbClr val="000000"/>
                          </a:solidFill>
                          <a:latin typeface="Nunito Sans"/>
                          <a:ea typeface="Nunito Sans"/>
                          <a:cs typeface="Nunito Sans"/>
                          <a:sym typeface="Nunito Sans"/>
                        </a:rPr>
                        <a:t>2.	Why do I want to do it?</a:t>
                      </a:r>
                      <a:endParaRPr sz="1100" u="none" cap="none" strike="noStrike">
                        <a:solidFill>
                          <a:srgbClr val="000000"/>
                        </a:solidFill>
                        <a:latin typeface="Nunito Sans"/>
                        <a:ea typeface="Nunito Sans"/>
                        <a:cs typeface="Nunito Sans"/>
                        <a:sym typeface="Nunito Sans"/>
                      </a:endParaRPr>
                    </a:p>
                    <a:p>
                      <a:pPr indent="0" lvl="0" marL="342900" marR="0" rtl="0" algn="l">
                        <a:lnSpc>
                          <a:spcPct val="115000"/>
                        </a:lnSpc>
                        <a:spcBef>
                          <a:spcPts val="0"/>
                        </a:spcBef>
                        <a:spcAft>
                          <a:spcPts val="0"/>
                        </a:spcAft>
                        <a:buClr>
                          <a:srgbClr val="000000"/>
                        </a:buClr>
                        <a:buSzPts val="1100"/>
                        <a:buFont typeface="Arial"/>
                        <a:buNone/>
                      </a:pPr>
                      <a:r>
                        <a:rPr lang="en" sz="1100" u="none" cap="none" strike="noStrike">
                          <a:solidFill>
                            <a:srgbClr val="000000"/>
                          </a:solidFill>
                          <a:latin typeface="Nunito Sans"/>
                          <a:ea typeface="Nunito Sans"/>
                          <a:cs typeface="Nunito Sans"/>
                          <a:sym typeface="Nunito Sans"/>
                        </a:rPr>
                        <a:t>3.	Who is involved?</a:t>
                      </a:r>
                      <a:endParaRPr sz="1100" u="none" cap="none" strike="noStrike">
                        <a:solidFill>
                          <a:srgbClr val="000000"/>
                        </a:solidFill>
                        <a:latin typeface="Nunito Sans"/>
                        <a:ea typeface="Nunito Sans"/>
                        <a:cs typeface="Nunito Sans"/>
                        <a:sym typeface="Nunito Sans"/>
                      </a:endParaRPr>
                    </a:p>
                    <a:p>
                      <a:pPr indent="0" lvl="0" marL="342900" marR="0" rtl="0" algn="l">
                        <a:lnSpc>
                          <a:spcPct val="115000"/>
                        </a:lnSpc>
                        <a:spcBef>
                          <a:spcPts val="0"/>
                        </a:spcBef>
                        <a:spcAft>
                          <a:spcPts val="0"/>
                        </a:spcAft>
                        <a:buClr>
                          <a:srgbClr val="000000"/>
                        </a:buClr>
                        <a:buSzPts val="1100"/>
                        <a:buFont typeface="Arial"/>
                        <a:buNone/>
                      </a:pPr>
                      <a:r>
                        <a:rPr lang="en" sz="1100" u="none" cap="none" strike="noStrike">
                          <a:solidFill>
                            <a:srgbClr val="000000"/>
                          </a:solidFill>
                          <a:latin typeface="Nunito Sans"/>
                          <a:ea typeface="Nunito Sans"/>
                          <a:cs typeface="Nunito Sans"/>
                          <a:sym typeface="Nunito Sans"/>
                        </a:rPr>
                        <a:t>4.	Where am I going to achieve my goal?</a:t>
                      </a:r>
                      <a:endParaRPr sz="1100" u="none" cap="none" strike="noStrike">
                        <a:solidFill>
                          <a:srgbClr val="000000"/>
                        </a:solidFill>
                        <a:latin typeface="Nunito Sans"/>
                        <a:ea typeface="Nunito Sans"/>
                        <a:cs typeface="Nunito Sans"/>
                        <a:sym typeface="Nunito Sans"/>
                      </a:endParaRPr>
                    </a:p>
                    <a:p>
                      <a:pPr indent="0" lvl="0" marL="342900" marR="0" rtl="0" algn="l">
                        <a:lnSpc>
                          <a:spcPct val="115000"/>
                        </a:lnSpc>
                        <a:spcBef>
                          <a:spcPts val="0"/>
                        </a:spcBef>
                        <a:spcAft>
                          <a:spcPts val="0"/>
                        </a:spcAft>
                        <a:buClr>
                          <a:srgbClr val="000000"/>
                        </a:buClr>
                        <a:buSzPts val="1100"/>
                        <a:buFont typeface="Arial"/>
                        <a:buNone/>
                      </a:pPr>
                      <a:r>
                        <a:rPr lang="en" sz="1100" u="none" cap="none" strike="noStrike">
                          <a:solidFill>
                            <a:srgbClr val="000000"/>
                          </a:solidFill>
                          <a:latin typeface="Nunito Sans"/>
                          <a:ea typeface="Nunito Sans"/>
                          <a:cs typeface="Nunito Sans"/>
                          <a:sym typeface="Nunito Sans"/>
                        </a:rPr>
                        <a:t>5.	What resources do I need?</a:t>
                      </a:r>
                      <a:endParaRPr sz="1100" u="none" cap="none" strike="noStrike">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t/>
                      </a:r>
                      <a:endParaRPr sz="1900" u="none" cap="none" strike="noStrike">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t/>
                      </a:r>
                      <a:endParaRPr sz="1900" u="none" cap="none" strike="noStrike">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t/>
                      </a:r>
                      <a:endParaRPr sz="1900" u="none" cap="none" strike="noStrike">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r>
              <a:tr h="406575">
                <a:tc>
                  <a:txBody>
                    <a:bodyPr/>
                    <a:lstStyle/>
                    <a:p>
                      <a:pPr indent="0" lvl="0" marL="0" marR="0" rtl="0" algn="ctr">
                        <a:lnSpc>
                          <a:spcPct val="115000"/>
                        </a:lnSpc>
                        <a:spcBef>
                          <a:spcPts val="0"/>
                        </a:spcBef>
                        <a:spcAft>
                          <a:spcPts val="0"/>
                        </a:spcAft>
                        <a:buClr>
                          <a:srgbClr val="000000"/>
                        </a:buClr>
                        <a:buSzPts val="1700"/>
                        <a:buFont typeface="Arial"/>
                        <a:buNone/>
                      </a:pPr>
                      <a:r>
                        <a:rPr b="1" lang="en" sz="1700" u="none" cap="none" strike="noStrike">
                          <a:solidFill>
                            <a:srgbClr val="C28200"/>
                          </a:solidFill>
                          <a:latin typeface="Nunito Sans"/>
                          <a:ea typeface="Nunito Sans"/>
                          <a:cs typeface="Nunito Sans"/>
                          <a:sym typeface="Nunito Sans"/>
                        </a:rPr>
                        <a:t>M</a:t>
                      </a:r>
                      <a:endParaRPr sz="1700" u="none" cap="none" strike="noStrike">
                        <a:solidFill>
                          <a:srgbClr val="C28200"/>
                        </a:solidFill>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rgbClr val="000000"/>
                          </a:solidFill>
                          <a:latin typeface="Nunito Sans"/>
                          <a:ea typeface="Nunito Sans"/>
                          <a:cs typeface="Nunito Sans"/>
                          <a:sym typeface="Nunito Sans"/>
                        </a:rPr>
                        <a:t>Measurable:</a:t>
                      </a:r>
                      <a:r>
                        <a:rPr lang="en" sz="1100" u="none" cap="none" strike="noStrike">
                          <a:latin typeface="Nunito Sans"/>
                          <a:ea typeface="Nunito Sans"/>
                          <a:cs typeface="Nunito Sans"/>
                          <a:sym typeface="Nunito Sans"/>
                        </a:rPr>
                        <a:t> </a:t>
                      </a:r>
                      <a:r>
                        <a:rPr lang="en" sz="1100" u="none" cap="none" strike="noStrike">
                          <a:solidFill>
                            <a:srgbClr val="000000"/>
                          </a:solidFill>
                          <a:latin typeface="Nunito Sans"/>
                          <a:ea typeface="Nunito Sans"/>
                          <a:cs typeface="Nunito Sans"/>
                          <a:sym typeface="Nunito Sans"/>
                        </a:rPr>
                        <a:t>How will I know if my goal has been achieved?</a:t>
                      </a:r>
                      <a:endParaRPr sz="1100" u="none" cap="none" strike="noStrike">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t/>
                      </a:r>
                      <a:endParaRPr sz="1900" u="none" cap="none" strike="noStrike">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t/>
                      </a:r>
                      <a:endParaRPr sz="1900" u="none" cap="none" strike="noStrike">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t/>
                      </a:r>
                      <a:endParaRPr sz="1900" u="none" cap="none" strike="noStrike">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r>
              <a:tr h="896200">
                <a:tc>
                  <a:txBody>
                    <a:bodyPr/>
                    <a:lstStyle/>
                    <a:p>
                      <a:pPr indent="0" lvl="0" marL="0" marR="0" rtl="0" algn="ctr">
                        <a:lnSpc>
                          <a:spcPct val="115000"/>
                        </a:lnSpc>
                        <a:spcBef>
                          <a:spcPts val="0"/>
                        </a:spcBef>
                        <a:spcAft>
                          <a:spcPts val="0"/>
                        </a:spcAft>
                        <a:buClr>
                          <a:srgbClr val="000000"/>
                        </a:buClr>
                        <a:buSzPts val="1700"/>
                        <a:buFont typeface="Arial"/>
                        <a:buNone/>
                      </a:pPr>
                      <a:r>
                        <a:rPr b="1" lang="en" sz="1700" u="none" cap="none" strike="noStrike">
                          <a:solidFill>
                            <a:srgbClr val="C28200"/>
                          </a:solidFill>
                          <a:latin typeface="Nunito Sans"/>
                          <a:ea typeface="Nunito Sans"/>
                          <a:cs typeface="Nunito Sans"/>
                          <a:sym typeface="Nunito Sans"/>
                        </a:rPr>
                        <a:t>A</a:t>
                      </a:r>
                      <a:endParaRPr sz="1700" u="none" cap="none" strike="noStrike">
                        <a:solidFill>
                          <a:srgbClr val="C28200"/>
                        </a:solidFill>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rgbClr val="000000"/>
                          </a:solidFill>
                          <a:latin typeface="Nunito Sans"/>
                          <a:ea typeface="Nunito Sans"/>
                          <a:cs typeface="Nunito Sans"/>
                          <a:sym typeface="Nunito Sans"/>
                        </a:rPr>
                        <a:t>Achievable:</a:t>
                      </a:r>
                      <a:endParaRPr sz="1100" u="none" cap="none" strike="noStrike">
                        <a:solidFill>
                          <a:srgbClr val="000000"/>
                        </a:solidFill>
                        <a:latin typeface="Nunito Sans"/>
                        <a:ea typeface="Nunito Sans"/>
                        <a:cs typeface="Nunito Sans"/>
                        <a:sym typeface="Nunito Sans"/>
                      </a:endParaRPr>
                    </a:p>
                    <a:p>
                      <a:pPr indent="0" lvl="0" marL="342900" marR="0" rtl="0" algn="l">
                        <a:lnSpc>
                          <a:spcPct val="115000"/>
                        </a:lnSpc>
                        <a:spcBef>
                          <a:spcPts val="0"/>
                        </a:spcBef>
                        <a:spcAft>
                          <a:spcPts val="0"/>
                        </a:spcAft>
                        <a:buClr>
                          <a:srgbClr val="000000"/>
                        </a:buClr>
                        <a:buSzPts val="1100"/>
                        <a:buFont typeface="Arial"/>
                        <a:buNone/>
                      </a:pPr>
                      <a:r>
                        <a:rPr lang="en" sz="1100" u="none" cap="none" strike="noStrike">
                          <a:solidFill>
                            <a:srgbClr val="000000"/>
                          </a:solidFill>
                          <a:latin typeface="Nunito Sans"/>
                          <a:ea typeface="Nunito Sans"/>
                          <a:cs typeface="Nunito Sans"/>
                          <a:sym typeface="Nunito Sans"/>
                        </a:rPr>
                        <a:t>1.	How will I achieve my goal?</a:t>
                      </a:r>
                      <a:endParaRPr sz="1100" u="none" cap="none" strike="noStrike">
                        <a:solidFill>
                          <a:srgbClr val="000000"/>
                        </a:solidFill>
                        <a:latin typeface="Nunito Sans"/>
                        <a:ea typeface="Nunito Sans"/>
                        <a:cs typeface="Nunito Sans"/>
                        <a:sym typeface="Nunito Sans"/>
                      </a:endParaRPr>
                    </a:p>
                    <a:p>
                      <a:pPr indent="0" lvl="0" marL="342900" marR="0" rtl="0" algn="l">
                        <a:lnSpc>
                          <a:spcPct val="115000"/>
                        </a:lnSpc>
                        <a:spcBef>
                          <a:spcPts val="0"/>
                        </a:spcBef>
                        <a:spcAft>
                          <a:spcPts val="0"/>
                        </a:spcAft>
                        <a:buClr>
                          <a:srgbClr val="000000"/>
                        </a:buClr>
                        <a:buSzPts val="1100"/>
                        <a:buFont typeface="Arial"/>
                        <a:buNone/>
                      </a:pPr>
                      <a:r>
                        <a:rPr lang="en" sz="1100" u="none" cap="none" strike="noStrike">
                          <a:solidFill>
                            <a:srgbClr val="000000"/>
                          </a:solidFill>
                          <a:latin typeface="Nunito Sans"/>
                          <a:ea typeface="Nunito Sans"/>
                          <a:cs typeface="Nunito Sans"/>
                          <a:sym typeface="Nunito Sans"/>
                        </a:rPr>
                        <a:t>2.	What limitations may I face?</a:t>
                      </a:r>
                      <a:endParaRPr sz="1100" u="none" cap="none" strike="noStrike">
                        <a:solidFill>
                          <a:srgbClr val="000000"/>
                        </a:solidFill>
                        <a:latin typeface="Nunito Sans"/>
                        <a:ea typeface="Nunito Sans"/>
                        <a:cs typeface="Nunito Sans"/>
                        <a:sym typeface="Nunito Sans"/>
                      </a:endParaRPr>
                    </a:p>
                    <a:p>
                      <a:pPr indent="0" lvl="0" marL="342900" marR="0" rtl="0" algn="l">
                        <a:lnSpc>
                          <a:spcPct val="115000"/>
                        </a:lnSpc>
                        <a:spcBef>
                          <a:spcPts val="0"/>
                        </a:spcBef>
                        <a:spcAft>
                          <a:spcPts val="0"/>
                        </a:spcAft>
                        <a:buClr>
                          <a:srgbClr val="000000"/>
                        </a:buClr>
                        <a:buSzPts val="1100"/>
                        <a:buFont typeface="Arial"/>
                        <a:buNone/>
                      </a:pPr>
                      <a:r>
                        <a:rPr lang="en" sz="1100" u="none" cap="none" strike="noStrike">
                          <a:solidFill>
                            <a:srgbClr val="000000"/>
                          </a:solidFill>
                          <a:latin typeface="Nunito Sans"/>
                          <a:ea typeface="Nunito Sans"/>
                          <a:cs typeface="Nunito Sans"/>
                          <a:sym typeface="Nunito Sans"/>
                        </a:rPr>
                        <a:t>3.	Why is my goal realistic?</a:t>
                      </a:r>
                      <a:endParaRPr sz="1100" u="none" cap="none" strike="noStrike">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t/>
                      </a:r>
                      <a:endParaRPr sz="1900" u="none" cap="none" strike="noStrike">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t/>
                      </a:r>
                      <a:endParaRPr sz="1900" u="none" cap="none" strike="noStrike">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t/>
                      </a:r>
                      <a:endParaRPr sz="1900" u="none" cap="none" strike="noStrike">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r>
              <a:tr h="382875">
                <a:tc>
                  <a:txBody>
                    <a:bodyPr/>
                    <a:lstStyle/>
                    <a:p>
                      <a:pPr indent="0" lvl="0" marL="0" marR="0" rtl="0" algn="ctr">
                        <a:lnSpc>
                          <a:spcPct val="115000"/>
                        </a:lnSpc>
                        <a:spcBef>
                          <a:spcPts val="0"/>
                        </a:spcBef>
                        <a:spcAft>
                          <a:spcPts val="0"/>
                        </a:spcAft>
                        <a:buClr>
                          <a:srgbClr val="000000"/>
                        </a:buClr>
                        <a:buSzPts val="1700"/>
                        <a:buFont typeface="Arial"/>
                        <a:buNone/>
                      </a:pPr>
                      <a:r>
                        <a:rPr b="1" lang="en" sz="1700" u="none" cap="none" strike="noStrike">
                          <a:solidFill>
                            <a:srgbClr val="C28200"/>
                          </a:solidFill>
                          <a:latin typeface="Nunito Sans"/>
                          <a:ea typeface="Nunito Sans"/>
                          <a:cs typeface="Nunito Sans"/>
                          <a:sym typeface="Nunito Sans"/>
                        </a:rPr>
                        <a:t>R</a:t>
                      </a:r>
                      <a:endParaRPr b="1" sz="1700" u="none" cap="none" strike="noStrike">
                        <a:solidFill>
                          <a:srgbClr val="C28200"/>
                        </a:solidFill>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rgbClr val="000000"/>
                          </a:solidFill>
                          <a:latin typeface="Nunito Sans"/>
                          <a:ea typeface="Nunito Sans"/>
                          <a:cs typeface="Nunito Sans"/>
                          <a:sym typeface="Nunito Sans"/>
                        </a:rPr>
                        <a:t>Relevant:</a:t>
                      </a:r>
                      <a:r>
                        <a:rPr lang="en" sz="1100" u="none" cap="none" strike="noStrike">
                          <a:latin typeface="Nunito Sans"/>
                          <a:ea typeface="Nunito Sans"/>
                          <a:cs typeface="Nunito Sans"/>
                          <a:sym typeface="Nunito Sans"/>
                        </a:rPr>
                        <a:t> </a:t>
                      </a:r>
                      <a:r>
                        <a:rPr lang="en" sz="1100" u="none" cap="none" strike="noStrike">
                          <a:solidFill>
                            <a:srgbClr val="000000"/>
                          </a:solidFill>
                          <a:latin typeface="Nunito Sans"/>
                          <a:ea typeface="Nunito Sans"/>
                          <a:cs typeface="Nunito Sans"/>
                          <a:sym typeface="Nunito Sans"/>
                        </a:rPr>
                        <a:t>Why is my goal important? What need is driving my goal?</a:t>
                      </a:r>
                      <a:endParaRPr sz="1100" u="none" cap="none" strike="noStrike">
                        <a:solidFill>
                          <a:srgbClr val="000000"/>
                        </a:solidFill>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t/>
                      </a:r>
                      <a:endParaRPr sz="1900" u="none" cap="none" strike="noStrike">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t/>
                      </a:r>
                      <a:endParaRPr sz="1900" u="none" cap="none" strike="noStrike">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t/>
                      </a:r>
                      <a:endParaRPr sz="1900" u="none" cap="none" strike="noStrike">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r>
              <a:tr h="494700">
                <a:tc>
                  <a:txBody>
                    <a:bodyPr/>
                    <a:lstStyle/>
                    <a:p>
                      <a:pPr indent="0" lvl="0" marL="0" marR="0" rtl="0" algn="ctr">
                        <a:lnSpc>
                          <a:spcPct val="115000"/>
                        </a:lnSpc>
                        <a:spcBef>
                          <a:spcPts val="0"/>
                        </a:spcBef>
                        <a:spcAft>
                          <a:spcPts val="0"/>
                        </a:spcAft>
                        <a:buClr>
                          <a:srgbClr val="000000"/>
                        </a:buClr>
                        <a:buSzPts val="1700"/>
                        <a:buFont typeface="Arial"/>
                        <a:buNone/>
                      </a:pPr>
                      <a:r>
                        <a:rPr b="1" lang="en" sz="1700" u="none" cap="none" strike="noStrike">
                          <a:solidFill>
                            <a:srgbClr val="C28200"/>
                          </a:solidFill>
                          <a:latin typeface="Nunito Sans"/>
                          <a:ea typeface="Nunito Sans"/>
                          <a:cs typeface="Nunito Sans"/>
                          <a:sym typeface="Nunito Sans"/>
                        </a:rPr>
                        <a:t>T</a:t>
                      </a:r>
                      <a:endParaRPr sz="1700" u="none" cap="none" strike="noStrike">
                        <a:solidFill>
                          <a:srgbClr val="C28200"/>
                        </a:solidFill>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rgbClr val="000000"/>
                          </a:solidFill>
                          <a:latin typeface="Nunito Sans"/>
                          <a:ea typeface="Nunito Sans"/>
                          <a:cs typeface="Nunito Sans"/>
                          <a:sym typeface="Nunito Sans"/>
                        </a:rPr>
                        <a:t>Time-based:</a:t>
                      </a:r>
                      <a:r>
                        <a:rPr lang="en" sz="1100" u="none" cap="none" strike="noStrike">
                          <a:latin typeface="Nunito Sans"/>
                          <a:ea typeface="Nunito Sans"/>
                          <a:cs typeface="Nunito Sans"/>
                          <a:sym typeface="Nunito Sans"/>
                        </a:rPr>
                        <a:t> </a:t>
                      </a:r>
                      <a:r>
                        <a:rPr lang="en" sz="1100" u="none" cap="none" strike="noStrike">
                          <a:solidFill>
                            <a:srgbClr val="000000"/>
                          </a:solidFill>
                          <a:latin typeface="Nunito Sans"/>
                          <a:ea typeface="Nunito Sans"/>
                          <a:cs typeface="Nunito Sans"/>
                          <a:sym typeface="Nunito Sans"/>
                        </a:rPr>
                        <a:t>Can I achieve my goal within the timeframe? How?</a:t>
                      </a:r>
                      <a:endParaRPr sz="1100" u="none" cap="none" strike="noStrike">
                        <a:solidFill>
                          <a:srgbClr val="000000"/>
                        </a:solidFill>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t/>
                      </a:r>
                      <a:endParaRPr sz="1900" u="none" cap="none" strike="noStrike">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t/>
                      </a:r>
                      <a:endParaRPr sz="1900" u="none" cap="none" strike="noStrike">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t/>
                      </a:r>
                      <a:endParaRPr sz="1900" u="none" cap="none" strike="noStrike">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g3820077ca82_0_12"/>
          <p:cNvSpPr txBox="1"/>
          <p:nvPr/>
        </p:nvSpPr>
        <p:spPr>
          <a:xfrm>
            <a:off x="597500" y="1011500"/>
            <a:ext cx="7795500" cy="58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rgbClr val="0E101A"/>
                </a:solidFill>
                <a:latin typeface="Nunito Sans"/>
                <a:ea typeface="Nunito Sans"/>
                <a:cs typeface="Nunito Sans"/>
                <a:sym typeface="Nunito Sans"/>
              </a:rPr>
              <a:t>You can choose your product goal first and then decide on the learning goal if that makes sense for you. This table can help you to create the goal and link it to the success criteria. </a:t>
            </a:r>
            <a:endParaRPr b="1" i="0" sz="1200" u="none" cap="none" strike="noStrike">
              <a:solidFill>
                <a:schemeClr val="dk1"/>
              </a:solidFill>
              <a:latin typeface="Nunito Sans"/>
              <a:ea typeface="Nunito Sans"/>
              <a:cs typeface="Nunito Sans"/>
              <a:sym typeface="Nunito Sans"/>
            </a:endParaRPr>
          </a:p>
        </p:txBody>
      </p:sp>
      <p:sp>
        <p:nvSpPr>
          <p:cNvPr id="73" name="Google Shape;73;g3820077ca82_0_12"/>
          <p:cNvSpPr txBox="1"/>
          <p:nvPr/>
        </p:nvSpPr>
        <p:spPr>
          <a:xfrm>
            <a:off x="597500" y="540967"/>
            <a:ext cx="3000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chemeClr val="dk1"/>
                </a:solidFill>
                <a:highlight>
                  <a:srgbClr val="FFF9EB"/>
                </a:highlight>
                <a:latin typeface="Nunito Sans"/>
                <a:ea typeface="Nunito Sans"/>
                <a:cs typeface="Nunito Sans"/>
                <a:sym typeface="Nunito Sans"/>
              </a:rPr>
              <a:t>Learning goal</a:t>
            </a:r>
            <a:endParaRPr b="1" i="0" sz="1500" u="none" cap="none" strike="noStrike">
              <a:solidFill>
                <a:schemeClr val="dk1"/>
              </a:solidFill>
              <a:highlight>
                <a:srgbClr val="FFF9EB"/>
              </a:highlight>
              <a:latin typeface="Nunito Sans"/>
              <a:ea typeface="Nunito Sans"/>
              <a:cs typeface="Nunito Sans"/>
              <a:sym typeface="Nunito Sans"/>
            </a:endParaRPr>
          </a:p>
        </p:txBody>
      </p:sp>
      <p:graphicFrame>
        <p:nvGraphicFramePr>
          <p:cNvPr id="74" name="Google Shape;74;g3820077ca82_0_12"/>
          <p:cNvGraphicFramePr/>
          <p:nvPr/>
        </p:nvGraphicFramePr>
        <p:xfrm>
          <a:off x="680238" y="1948679"/>
          <a:ext cx="3000000" cy="3000000"/>
        </p:xfrm>
        <a:graphic>
          <a:graphicData uri="http://schemas.openxmlformats.org/drawingml/2006/table">
            <a:tbl>
              <a:tblPr>
                <a:noFill/>
                <a:tableStyleId>{04804F0E-9C23-4F1B-B267-A750618625AF}</a:tableStyleId>
              </a:tblPr>
              <a:tblGrid>
                <a:gridCol w="1101050"/>
                <a:gridCol w="2670150"/>
              </a:tblGrid>
              <a:tr h="702525">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solidFill>
                            <a:schemeClr val="dk1"/>
                          </a:solidFill>
                          <a:latin typeface="Nunito Sans SemiBold"/>
                          <a:ea typeface="Nunito Sans SemiBold"/>
                          <a:cs typeface="Nunito Sans SemiBold"/>
                          <a:sym typeface="Nunito Sans SemiBold"/>
                        </a:rPr>
                        <a:t>Relevance*</a:t>
                      </a:r>
                      <a:endParaRPr i="1" sz="1300" u="none" cap="none" strike="noStrike">
                        <a:solidFill>
                          <a:schemeClr val="dk1"/>
                        </a:solidFill>
                        <a:latin typeface="Nunito Sans SemiBold"/>
                        <a:ea typeface="Nunito Sans SemiBold"/>
                        <a:cs typeface="Nunito Sans SemiBold"/>
                        <a:sym typeface="Nunito Sans SemiBold"/>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solidFill>
                      <a:srgbClr val="FFF9EB"/>
                    </a:solidFill>
                  </a:tcPr>
                </a:tc>
                <a:tc>
                  <a:txBody>
                    <a:bodyPr/>
                    <a:lstStyle/>
                    <a:p>
                      <a:pPr indent="-387350" lvl="0" marL="609600" marR="0" rtl="0" algn="l">
                        <a:lnSpc>
                          <a:spcPct val="115000"/>
                        </a:lnSpc>
                        <a:spcBef>
                          <a:spcPts val="0"/>
                        </a:spcBef>
                        <a:spcAft>
                          <a:spcPts val="0"/>
                        </a:spcAft>
                        <a:buClr>
                          <a:schemeClr val="dk1"/>
                        </a:buClr>
                        <a:buSzPts val="1300"/>
                        <a:buFont typeface="Nunito Sans"/>
                        <a:buChar char="●"/>
                      </a:pPr>
                      <a:r>
                        <a:rPr lang="en" sz="1300" u="none" cap="none" strike="noStrike">
                          <a:solidFill>
                            <a:schemeClr val="dk1"/>
                          </a:solidFill>
                          <a:latin typeface="Nunito Sans"/>
                          <a:ea typeface="Nunito Sans"/>
                          <a:cs typeface="Nunito Sans"/>
                          <a:sym typeface="Nunito Sans"/>
                        </a:rPr>
                        <a:t>Who cares?</a:t>
                      </a:r>
                      <a:endParaRPr sz="1300" u="none" cap="none" strike="noStrike">
                        <a:solidFill>
                          <a:schemeClr val="dk1"/>
                        </a:solidFill>
                        <a:latin typeface="Nunito Sans"/>
                        <a:ea typeface="Nunito Sans"/>
                        <a:cs typeface="Nunito Sans"/>
                        <a:sym typeface="Nunito Sans"/>
                      </a:endParaRPr>
                    </a:p>
                    <a:p>
                      <a:pPr indent="-387350" lvl="0" marL="609600" marR="0" rtl="0" algn="l">
                        <a:lnSpc>
                          <a:spcPct val="115000"/>
                        </a:lnSpc>
                        <a:spcBef>
                          <a:spcPts val="0"/>
                        </a:spcBef>
                        <a:spcAft>
                          <a:spcPts val="0"/>
                        </a:spcAft>
                        <a:buClr>
                          <a:schemeClr val="dk1"/>
                        </a:buClr>
                        <a:buSzPts val="1300"/>
                        <a:buFont typeface="Nunito Sans"/>
                        <a:buChar char="●"/>
                      </a:pPr>
                      <a:r>
                        <a:rPr lang="en" sz="1300" u="none" cap="none" strike="noStrike">
                          <a:solidFill>
                            <a:schemeClr val="dk1"/>
                          </a:solidFill>
                          <a:latin typeface="Nunito Sans"/>
                          <a:ea typeface="Nunito Sans"/>
                          <a:cs typeface="Nunito Sans"/>
                          <a:sym typeface="Nunito Sans"/>
                        </a:rPr>
                        <a:t>Why do they/you care?</a:t>
                      </a:r>
                      <a:endParaRPr sz="1300" u="none" cap="none" strike="noStrike">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r>
              <a:tr h="895225">
                <a:tc>
                  <a:txBody>
                    <a:bodyPr/>
                    <a:lstStyle/>
                    <a:p>
                      <a:pPr indent="0" lvl="0" marL="0" marR="0" rtl="0" algn="l">
                        <a:lnSpc>
                          <a:spcPct val="100000"/>
                        </a:lnSpc>
                        <a:spcBef>
                          <a:spcPts val="0"/>
                        </a:spcBef>
                        <a:spcAft>
                          <a:spcPts val="0"/>
                        </a:spcAft>
                        <a:buClr>
                          <a:schemeClr val="dk1"/>
                        </a:buClr>
                        <a:buSzPts val="1500"/>
                        <a:buFont typeface="Arial"/>
                        <a:buNone/>
                      </a:pPr>
                      <a:r>
                        <a:rPr lang="en" sz="1300" u="none" cap="none" strike="noStrike">
                          <a:solidFill>
                            <a:schemeClr val="dk1"/>
                          </a:solidFill>
                          <a:latin typeface="Nunito Sans SemiBold"/>
                          <a:ea typeface="Nunito Sans SemiBold"/>
                          <a:cs typeface="Nunito Sans SemiBold"/>
                          <a:sym typeface="Nunito Sans SemiBold"/>
                        </a:rPr>
                        <a:t>Scope</a:t>
                      </a:r>
                      <a:endParaRPr sz="1300" u="none" cap="none" strike="noStrike">
                        <a:latin typeface="Nunito Sans SemiBold"/>
                        <a:ea typeface="Nunito Sans SemiBold"/>
                        <a:cs typeface="Nunito Sans SemiBold"/>
                        <a:sym typeface="Nunito Sans SemiBold"/>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solidFill>
                      <a:srgbClr val="FFF9EB"/>
                    </a:solidFill>
                  </a:tcPr>
                </a:tc>
                <a:tc>
                  <a:txBody>
                    <a:bodyPr/>
                    <a:lstStyle/>
                    <a:p>
                      <a:pPr indent="-387350" lvl="0" marL="609600" marR="0" rtl="0" algn="l">
                        <a:lnSpc>
                          <a:spcPct val="115000"/>
                        </a:lnSpc>
                        <a:spcBef>
                          <a:spcPts val="0"/>
                        </a:spcBef>
                        <a:spcAft>
                          <a:spcPts val="0"/>
                        </a:spcAft>
                        <a:buClr>
                          <a:schemeClr val="dk1"/>
                        </a:buClr>
                        <a:buSzPts val="1300"/>
                        <a:buFont typeface="Nunito Sans"/>
                        <a:buChar char="●"/>
                      </a:pPr>
                      <a:r>
                        <a:rPr lang="en" sz="1300" u="none" cap="none" strike="noStrike">
                          <a:solidFill>
                            <a:schemeClr val="dk1"/>
                          </a:solidFill>
                          <a:latin typeface="Nunito Sans"/>
                          <a:ea typeface="Nunito Sans"/>
                          <a:cs typeface="Nunito Sans"/>
                          <a:sym typeface="Nunito Sans"/>
                        </a:rPr>
                        <a:t>Is it too broad?</a:t>
                      </a:r>
                      <a:endParaRPr sz="1300" u="none" cap="none" strike="noStrike">
                        <a:solidFill>
                          <a:schemeClr val="dk1"/>
                        </a:solidFill>
                        <a:latin typeface="Nunito Sans"/>
                        <a:ea typeface="Nunito Sans"/>
                        <a:cs typeface="Nunito Sans"/>
                        <a:sym typeface="Nunito Sans"/>
                      </a:endParaRPr>
                    </a:p>
                    <a:p>
                      <a:pPr indent="-387350" lvl="0" marL="609600" marR="0" rtl="0" algn="l">
                        <a:lnSpc>
                          <a:spcPct val="115000"/>
                        </a:lnSpc>
                        <a:spcBef>
                          <a:spcPts val="0"/>
                        </a:spcBef>
                        <a:spcAft>
                          <a:spcPts val="0"/>
                        </a:spcAft>
                        <a:buClr>
                          <a:schemeClr val="dk1"/>
                        </a:buClr>
                        <a:buSzPts val="1300"/>
                        <a:buFont typeface="Nunito Sans"/>
                        <a:buChar char="●"/>
                      </a:pPr>
                      <a:r>
                        <a:rPr lang="en" sz="1300" u="none" cap="none" strike="noStrike">
                          <a:solidFill>
                            <a:schemeClr val="dk1"/>
                          </a:solidFill>
                          <a:latin typeface="Nunito Sans"/>
                          <a:ea typeface="Nunito Sans"/>
                          <a:cs typeface="Nunito Sans"/>
                          <a:sym typeface="Nunito Sans"/>
                        </a:rPr>
                        <a:t>Is it too narrow?</a:t>
                      </a:r>
                      <a:endParaRPr sz="1300" u="none" cap="none" strike="noStrike">
                        <a:solidFill>
                          <a:schemeClr val="dk1"/>
                        </a:solidFill>
                        <a:latin typeface="Nunito Sans"/>
                        <a:ea typeface="Nunito Sans"/>
                        <a:cs typeface="Nunito Sans"/>
                        <a:sym typeface="Nunito Sans"/>
                      </a:endParaRPr>
                    </a:p>
                    <a:p>
                      <a:pPr indent="-387350" lvl="0" marL="609600" marR="0" rtl="0" algn="l">
                        <a:lnSpc>
                          <a:spcPct val="115000"/>
                        </a:lnSpc>
                        <a:spcBef>
                          <a:spcPts val="0"/>
                        </a:spcBef>
                        <a:spcAft>
                          <a:spcPts val="0"/>
                        </a:spcAft>
                        <a:buClr>
                          <a:schemeClr val="dk1"/>
                        </a:buClr>
                        <a:buSzPts val="1300"/>
                        <a:buFont typeface="Nunito Sans"/>
                        <a:buChar char="●"/>
                      </a:pPr>
                      <a:r>
                        <a:rPr lang="en" sz="1300" u="none" cap="none" strike="noStrike">
                          <a:solidFill>
                            <a:schemeClr val="dk1"/>
                          </a:solidFill>
                          <a:latin typeface="Nunito Sans"/>
                          <a:ea typeface="Nunito Sans"/>
                          <a:cs typeface="Nunito Sans"/>
                          <a:sym typeface="Nunito Sans"/>
                        </a:rPr>
                        <a:t>Is it just right?</a:t>
                      </a:r>
                      <a:endParaRPr sz="1300" u="none" cap="none" strike="noStrike">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r>
              <a:tr h="1352825">
                <a:tc>
                  <a:txBody>
                    <a:bodyPr/>
                    <a:lstStyle/>
                    <a:p>
                      <a:pPr indent="0" lvl="0" marL="0" marR="0" rtl="0" algn="l">
                        <a:lnSpc>
                          <a:spcPct val="100000"/>
                        </a:lnSpc>
                        <a:spcBef>
                          <a:spcPts val="0"/>
                        </a:spcBef>
                        <a:spcAft>
                          <a:spcPts val="0"/>
                        </a:spcAft>
                        <a:buClr>
                          <a:schemeClr val="dk1"/>
                        </a:buClr>
                        <a:buSzPts val="1500"/>
                        <a:buFont typeface="Arial"/>
                        <a:buNone/>
                      </a:pPr>
                      <a:r>
                        <a:rPr lang="en" sz="1300" u="none" cap="none" strike="noStrike">
                          <a:solidFill>
                            <a:schemeClr val="dk1"/>
                          </a:solidFill>
                          <a:latin typeface="Nunito Sans SemiBold"/>
                          <a:ea typeface="Nunito Sans SemiBold"/>
                          <a:cs typeface="Nunito Sans SemiBold"/>
                          <a:sym typeface="Nunito Sans SemiBold"/>
                        </a:rPr>
                        <a:t>Practicality</a:t>
                      </a:r>
                      <a:endParaRPr sz="1300" u="none" cap="none" strike="noStrike">
                        <a:latin typeface="Nunito Sans SemiBold"/>
                        <a:ea typeface="Nunito Sans SemiBold"/>
                        <a:cs typeface="Nunito Sans SemiBold"/>
                        <a:sym typeface="Nunito Sans SemiBold"/>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solidFill>
                      <a:srgbClr val="FFF9EB"/>
                    </a:solidFill>
                  </a:tcPr>
                </a:tc>
                <a:tc>
                  <a:txBody>
                    <a:bodyPr/>
                    <a:lstStyle/>
                    <a:p>
                      <a:pPr indent="-387350" lvl="0" marL="609600" marR="0" rtl="0" algn="l">
                        <a:lnSpc>
                          <a:spcPct val="115000"/>
                        </a:lnSpc>
                        <a:spcBef>
                          <a:spcPts val="0"/>
                        </a:spcBef>
                        <a:spcAft>
                          <a:spcPts val="0"/>
                        </a:spcAft>
                        <a:buClr>
                          <a:schemeClr val="dk1"/>
                        </a:buClr>
                        <a:buSzPts val="1300"/>
                        <a:buFont typeface="Nunito Sans"/>
                        <a:buChar char="●"/>
                      </a:pPr>
                      <a:r>
                        <a:rPr lang="en" sz="1300" u="none" cap="none" strike="noStrike">
                          <a:solidFill>
                            <a:schemeClr val="dk1"/>
                          </a:solidFill>
                          <a:latin typeface="Nunito Sans"/>
                          <a:ea typeface="Nunito Sans"/>
                          <a:cs typeface="Nunito Sans"/>
                          <a:sym typeface="Nunito Sans"/>
                        </a:rPr>
                        <a:t>Is it practical/achievable? It’s a wish but impractical</a:t>
                      </a:r>
                      <a:endParaRPr sz="1300" u="none" cap="none" strike="noStrike">
                        <a:solidFill>
                          <a:schemeClr val="dk1"/>
                        </a:solidFill>
                        <a:latin typeface="Nunito Sans"/>
                        <a:ea typeface="Nunito Sans"/>
                        <a:cs typeface="Nunito Sans"/>
                        <a:sym typeface="Nunito Sans"/>
                      </a:endParaRPr>
                    </a:p>
                    <a:p>
                      <a:pPr indent="-387350" lvl="0" marL="609600" marR="0" rtl="0" algn="l">
                        <a:lnSpc>
                          <a:spcPct val="115000"/>
                        </a:lnSpc>
                        <a:spcBef>
                          <a:spcPts val="0"/>
                        </a:spcBef>
                        <a:spcAft>
                          <a:spcPts val="0"/>
                        </a:spcAft>
                        <a:buClr>
                          <a:schemeClr val="dk1"/>
                        </a:buClr>
                        <a:buSzPts val="1300"/>
                        <a:buFont typeface="Nunito Sans"/>
                        <a:buChar char="●"/>
                      </a:pPr>
                      <a:r>
                        <a:rPr lang="en" sz="1300" u="none" cap="none" strike="noStrike">
                          <a:solidFill>
                            <a:schemeClr val="dk1"/>
                          </a:solidFill>
                          <a:latin typeface="Nunito Sans"/>
                          <a:ea typeface="Nunito Sans"/>
                          <a:cs typeface="Nunito Sans"/>
                          <a:sym typeface="Nunito Sans"/>
                        </a:rPr>
                        <a:t>Is it innovative?</a:t>
                      </a:r>
                      <a:endParaRPr sz="1300" u="none" cap="none" strike="noStrike">
                        <a:solidFill>
                          <a:schemeClr val="dk1"/>
                        </a:solidFill>
                        <a:latin typeface="Nunito Sans"/>
                        <a:ea typeface="Nunito Sans"/>
                        <a:cs typeface="Nunito Sans"/>
                        <a:sym typeface="Nunito Sans"/>
                      </a:endParaRPr>
                    </a:p>
                    <a:p>
                      <a:pPr indent="-387350" lvl="0" marL="609600" marR="0" rtl="0" algn="l">
                        <a:lnSpc>
                          <a:spcPct val="115000"/>
                        </a:lnSpc>
                        <a:spcBef>
                          <a:spcPts val="0"/>
                        </a:spcBef>
                        <a:spcAft>
                          <a:spcPts val="0"/>
                        </a:spcAft>
                        <a:buClr>
                          <a:schemeClr val="dk1"/>
                        </a:buClr>
                        <a:buSzPts val="1300"/>
                        <a:buFont typeface="Nunito Sans"/>
                        <a:buChar char="●"/>
                      </a:pPr>
                      <a:r>
                        <a:rPr lang="en" sz="1300" u="none" cap="none" strike="noStrike">
                          <a:solidFill>
                            <a:schemeClr val="dk1"/>
                          </a:solidFill>
                          <a:latin typeface="Nunito Sans"/>
                          <a:ea typeface="Nunito Sans"/>
                          <a:cs typeface="Nunito Sans"/>
                          <a:sym typeface="Nunito Sans"/>
                        </a:rPr>
                        <a:t>It is challenging?Innovative but workable</a:t>
                      </a:r>
                      <a:endParaRPr sz="1300" u="none" cap="none" strike="noStrike">
                        <a:solidFill>
                          <a:schemeClr val="dk1"/>
                        </a:solidFill>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r>
              <a:tr h="832000">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solidFill>
                            <a:schemeClr val="dk1"/>
                          </a:solidFill>
                          <a:latin typeface="Nunito Sans SemiBold"/>
                          <a:ea typeface="Nunito Sans SemiBold"/>
                          <a:cs typeface="Nunito Sans SemiBold"/>
                          <a:sym typeface="Nunito Sans SemiBold"/>
                        </a:rPr>
                        <a:t>Trackable</a:t>
                      </a:r>
                      <a:endParaRPr sz="1300" u="none" cap="none" strike="noStrike">
                        <a:solidFill>
                          <a:schemeClr val="dk1"/>
                        </a:solidFill>
                        <a:latin typeface="Nunito Sans SemiBold"/>
                        <a:ea typeface="Nunito Sans SemiBold"/>
                        <a:cs typeface="Nunito Sans SemiBold"/>
                        <a:sym typeface="Nunito Sans SemiBold"/>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solidFill>
                      <a:srgbClr val="FFF9EB"/>
                    </a:solidFill>
                  </a:tcPr>
                </a:tc>
                <a:tc>
                  <a:txBody>
                    <a:bodyPr/>
                    <a:lstStyle/>
                    <a:p>
                      <a:pPr indent="-387350" lvl="0" marL="609600" marR="0" rtl="0" algn="l">
                        <a:lnSpc>
                          <a:spcPct val="115000"/>
                        </a:lnSpc>
                        <a:spcBef>
                          <a:spcPts val="0"/>
                        </a:spcBef>
                        <a:spcAft>
                          <a:spcPts val="0"/>
                        </a:spcAft>
                        <a:buClr>
                          <a:schemeClr val="dk1"/>
                        </a:buClr>
                        <a:buSzPts val="1300"/>
                        <a:buFont typeface="Nunito Sans"/>
                        <a:buChar char="●"/>
                      </a:pPr>
                      <a:r>
                        <a:rPr lang="en" sz="1300" u="none" cap="none" strike="noStrike">
                          <a:solidFill>
                            <a:schemeClr val="dk1"/>
                          </a:solidFill>
                          <a:latin typeface="Nunito Sans"/>
                          <a:ea typeface="Nunito Sans"/>
                          <a:cs typeface="Nunito Sans"/>
                          <a:sym typeface="Nunito Sans"/>
                        </a:rPr>
                        <a:t>Will you be able to complete this in given time as per the timeline?</a:t>
                      </a:r>
                      <a:endParaRPr sz="1300" u="none" cap="none" strike="noStrike">
                        <a:solidFill>
                          <a:schemeClr val="dk1"/>
                        </a:solidFill>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r>
            </a:tbl>
          </a:graphicData>
        </a:graphic>
      </p:graphicFrame>
      <p:graphicFrame>
        <p:nvGraphicFramePr>
          <p:cNvPr id="75" name="Google Shape;75;g3820077ca82_0_12"/>
          <p:cNvGraphicFramePr/>
          <p:nvPr/>
        </p:nvGraphicFramePr>
        <p:xfrm>
          <a:off x="4704538" y="1961379"/>
          <a:ext cx="3000000" cy="3000000"/>
        </p:xfrm>
        <a:graphic>
          <a:graphicData uri="http://schemas.openxmlformats.org/drawingml/2006/table">
            <a:tbl>
              <a:tblPr>
                <a:noFill/>
                <a:tableStyleId>{04804F0E-9C23-4F1B-B267-A750618625AF}</a:tableStyleId>
              </a:tblPr>
              <a:tblGrid>
                <a:gridCol w="1170775"/>
                <a:gridCol w="2600425"/>
              </a:tblGrid>
              <a:tr h="70697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solidFill>
                            <a:schemeClr val="dk1"/>
                          </a:solidFill>
                          <a:latin typeface="Nunito Sans SemiBold"/>
                          <a:ea typeface="Nunito Sans SemiBold"/>
                          <a:cs typeface="Nunito Sans SemiBold"/>
                          <a:sym typeface="Nunito Sans SemiBold"/>
                        </a:rPr>
                        <a:t>Knowledge</a:t>
                      </a:r>
                      <a:endParaRPr i="1" sz="1300" u="none" cap="none" strike="noStrike">
                        <a:solidFill>
                          <a:schemeClr val="dk1"/>
                        </a:solidFill>
                        <a:latin typeface="Nunito Sans SemiBold"/>
                        <a:ea typeface="Nunito Sans SemiBold"/>
                        <a:cs typeface="Nunito Sans SemiBold"/>
                        <a:sym typeface="Nunito Sans SemiBold"/>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solidFill>
                      <a:srgbClr val="FFF9EB"/>
                    </a:solidFill>
                  </a:tcPr>
                </a:tc>
                <a:tc>
                  <a:txBody>
                    <a:bodyPr/>
                    <a:lstStyle/>
                    <a:p>
                      <a:pPr indent="-387350" lvl="0" marL="609600" marR="0" rtl="0" algn="l">
                        <a:lnSpc>
                          <a:spcPct val="115000"/>
                        </a:lnSpc>
                        <a:spcBef>
                          <a:spcPts val="0"/>
                        </a:spcBef>
                        <a:spcAft>
                          <a:spcPts val="0"/>
                        </a:spcAft>
                        <a:buClr>
                          <a:schemeClr val="dk1"/>
                        </a:buClr>
                        <a:buSzPts val="1300"/>
                        <a:buFont typeface="Nunito Sans"/>
                        <a:buChar char="●"/>
                      </a:pPr>
                      <a:r>
                        <a:rPr lang="en" sz="1300" u="none" cap="none" strike="noStrike">
                          <a:solidFill>
                            <a:schemeClr val="dk1"/>
                          </a:solidFill>
                          <a:latin typeface="Nunito Sans"/>
                          <a:ea typeface="Nunito Sans"/>
                          <a:cs typeface="Nunito Sans"/>
                          <a:sym typeface="Nunito Sans"/>
                        </a:rPr>
                        <a:t>Do you know enough about the subject matter?</a:t>
                      </a:r>
                      <a:endParaRPr sz="1300" u="none" cap="none" strike="noStrike">
                        <a:solidFill>
                          <a:schemeClr val="dk1"/>
                        </a:solidFill>
                        <a:latin typeface="Nunito Sans"/>
                        <a:ea typeface="Nunito Sans"/>
                        <a:cs typeface="Nunito Sans"/>
                        <a:sym typeface="Nunito Sans"/>
                      </a:endParaRPr>
                    </a:p>
                    <a:p>
                      <a:pPr indent="-387350" lvl="0" marL="609600" marR="0" rtl="0" algn="l">
                        <a:lnSpc>
                          <a:spcPct val="115000"/>
                        </a:lnSpc>
                        <a:spcBef>
                          <a:spcPts val="0"/>
                        </a:spcBef>
                        <a:spcAft>
                          <a:spcPts val="0"/>
                        </a:spcAft>
                        <a:buClr>
                          <a:schemeClr val="dk1"/>
                        </a:buClr>
                        <a:buSzPts val="1300"/>
                        <a:buFont typeface="Nunito Sans"/>
                        <a:buChar char="●"/>
                      </a:pPr>
                      <a:r>
                        <a:rPr lang="en" sz="1300" u="none" cap="none" strike="noStrike">
                          <a:solidFill>
                            <a:schemeClr val="dk1"/>
                          </a:solidFill>
                          <a:latin typeface="Nunito Sans"/>
                          <a:ea typeface="Nunito Sans"/>
                          <a:cs typeface="Nunito Sans"/>
                          <a:sym typeface="Nunito Sans"/>
                        </a:rPr>
                        <a:t>Do you know where, how or from who I can learn more about the subject matter?</a:t>
                      </a:r>
                      <a:endParaRPr sz="1300" u="none" cap="none" strike="noStrike">
                        <a:solidFill>
                          <a:schemeClr val="dk1"/>
                        </a:solidFill>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r>
              <a:tr h="528300">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solidFill>
                            <a:schemeClr val="dk1"/>
                          </a:solidFill>
                          <a:latin typeface="Nunito Sans SemiBold"/>
                          <a:ea typeface="Nunito Sans SemiBold"/>
                          <a:cs typeface="Nunito Sans SemiBold"/>
                          <a:sym typeface="Nunito Sans SemiBold"/>
                        </a:rPr>
                        <a:t>Authentic</a:t>
                      </a:r>
                      <a:endParaRPr sz="1300" u="none" cap="none" strike="noStrike">
                        <a:latin typeface="Nunito Sans SemiBold"/>
                        <a:ea typeface="Nunito Sans SemiBold"/>
                        <a:cs typeface="Nunito Sans SemiBold"/>
                        <a:sym typeface="Nunito Sans SemiBold"/>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solidFill>
                      <a:srgbClr val="FFF9EB"/>
                    </a:solidFill>
                  </a:tcPr>
                </a:tc>
                <a:tc>
                  <a:txBody>
                    <a:bodyPr/>
                    <a:lstStyle/>
                    <a:p>
                      <a:pPr indent="-387350" lvl="0" marL="609600" marR="0" rtl="0" algn="l">
                        <a:lnSpc>
                          <a:spcPct val="115000"/>
                        </a:lnSpc>
                        <a:spcBef>
                          <a:spcPts val="0"/>
                        </a:spcBef>
                        <a:spcAft>
                          <a:spcPts val="0"/>
                        </a:spcAft>
                        <a:buClr>
                          <a:schemeClr val="dk1"/>
                        </a:buClr>
                        <a:buSzPts val="1300"/>
                        <a:buFont typeface="Nunito Sans"/>
                        <a:buChar char="●"/>
                      </a:pPr>
                      <a:r>
                        <a:rPr lang="en" sz="1300" u="none" cap="none" strike="noStrike">
                          <a:solidFill>
                            <a:schemeClr val="dk1"/>
                          </a:solidFill>
                          <a:latin typeface="Nunito Sans"/>
                          <a:ea typeface="Nunito Sans"/>
                          <a:cs typeface="Nunito Sans"/>
                          <a:sym typeface="Nunito Sans"/>
                        </a:rPr>
                        <a:t>Is it personal?</a:t>
                      </a:r>
                      <a:endParaRPr sz="1300" u="none" cap="none" strike="noStrike">
                        <a:solidFill>
                          <a:schemeClr val="dk1"/>
                        </a:solidFill>
                        <a:latin typeface="Nunito Sans"/>
                        <a:ea typeface="Nunito Sans"/>
                        <a:cs typeface="Nunito Sans"/>
                        <a:sym typeface="Nunito Sans"/>
                      </a:endParaRPr>
                    </a:p>
                    <a:p>
                      <a:pPr indent="-387350" lvl="0" marL="609600" marR="0" rtl="0" algn="l">
                        <a:lnSpc>
                          <a:spcPct val="115000"/>
                        </a:lnSpc>
                        <a:spcBef>
                          <a:spcPts val="0"/>
                        </a:spcBef>
                        <a:spcAft>
                          <a:spcPts val="0"/>
                        </a:spcAft>
                        <a:buClr>
                          <a:schemeClr val="dk1"/>
                        </a:buClr>
                        <a:buSzPts val="1300"/>
                        <a:buFont typeface="Nunito Sans"/>
                        <a:buChar char="●"/>
                      </a:pPr>
                      <a:r>
                        <a:rPr lang="en" sz="1300" u="none" cap="none" strike="noStrike">
                          <a:solidFill>
                            <a:schemeClr val="dk1"/>
                          </a:solidFill>
                          <a:latin typeface="Nunito Sans"/>
                          <a:ea typeface="Nunito Sans"/>
                          <a:cs typeface="Nunito Sans"/>
                          <a:sym typeface="Nunito Sans"/>
                        </a:rPr>
                        <a:t>Does this represent your idea or passion?</a:t>
                      </a:r>
                      <a:endParaRPr sz="1300" u="none" cap="none" strike="noStrike">
                        <a:solidFill>
                          <a:schemeClr val="dk1"/>
                        </a:solidFill>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r>
              <a:tr h="896200">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solidFill>
                            <a:schemeClr val="dk1"/>
                          </a:solidFill>
                          <a:latin typeface="Nunito Sans SemiBold"/>
                          <a:ea typeface="Nunito Sans SemiBold"/>
                          <a:cs typeface="Nunito Sans SemiBold"/>
                          <a:sym typeface="Nunito Sans SemiBold"/>
                        </a:rPr>
                        <a:t>Measurable</a:t>
                      </a:r>
                      <a:endParaRPr sz="1300" u="none" cap="none" strike="noStrike">
                        <a:latin typeface="Nunito Sans SemiBold"/>
                        <a:ea typeface="Nunito Sans SemiBold"/>
                        <a:cs typeface="Nunito Sans SemiBold"/>
                        <a:sym typeface="Nunito Sans SemiBold"/>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solidFill>
                      <a:srgbClr val="FFF9EB"/>
                    </a:solidFill>
                  </a:tcPr>
                </a:tc>
                <a:tc>
                  <a:txBody>
                    <a:bodyPr/>
                    <a:lstStyle/>
                    <a:p>
                      <a:pPr indent="-387350" lvl="0" marL="609600" marR="0" rtl="0" algn="l">
                        <a:lnSpc>
                          <a:spcPct val="115000"/>
                        </a:lnSpc>
                        <a:spcBef>
                          <a:spcPts val="0"/>
                        </a:spcBef>
                        <a:spcAft>
                          <a:spcPts val="0"/>
                        </a:spcAft>
                        <a:buClr>
                          <a:schemeClr val="dk1"/>
                        </a:buClr>
                        <a:buSzPts val="1300"/>
                        <a:buFont typeface="Nunito Sans"/>
                        <a:buChar char="●"/>
                      </a:pPr>
                      <a:r>
                        <a:rPr lang="en" sz="1300" u="none" cap="none" strike="noStrike">
                          <a:solidFill>
                            <a:schemeClr val="dk1"/>
                          </a:solidFill>
                          <a:latin typeface="Nunito Sans"/>
                          <a:ea typeface="Nunito Sans"/>
                          <a:cs typeface="Nunito Sans"/>
                          <a:sym typeface="Nunito Sans"/>
                        </a:rPr>
                        <a:t>Can you measure the outcome?</a:t>
                      </a:r>
                      <a:endParaRPr sz="1300" u="none" cap="none" strike="noStrike">
                        <a:solidFill>
                          <a:schemeClr val="dk1"/>
                        </a:solidFill>
                        <a:latin typeface="Nunito Sans"/>
                        <a:ea typeface="Nunito Sans"/>
                        <a:cs typeface="Nunito Sans"/>
                        <a:sym typeface="Nunito Sans"/>
                      </a:endParaRPr>
                    </a:p>
                    <a:p>
                      <a:pPr indent="-387350" lvl="0" marL="609600" marR="0" rtl="0" algn="l">
                        <a:lnSpc>
                          <a:spcPct val="115000"/>
                        </a:lnSpc>
                        <a:spcBef>
                          <a:spcPts val="0"/>
                        </a:spcBef>
                        <a:spcAft>
                          <a:spcPts val="0"/>
                        </a:spcAft>
                        <a:buClr>
                          <a:schemeClr val="dk1"/>
                        </a:buClr>
                        <a:buSzPts val="1300"/>
                        <a:buFont typeface="Nunito Sans"/>
                        <a:buChar char="●"/>
                      </a:pPr>
                      <a:r>
                        <a:rPr lang="en" sz="1300" u="none" cap="none" strike="noStrike">
                          <a:solidFill>
                            <a:schemeClr val="dk1"/>
                          </a:solidFill>
                          <a:latin typeface="Nunito Sans"/>
                          <a:ea typeface="Nunito Sans"/>
                          <a:cs typeface="Nunito Sans"/>
                          <a:sym typeface="Nunito Sans"/>
                        </a:rPr>
                        <a:t>How will you test the product to prove the success?</a:t>
                      </a:r>
                      <a:endParaRPr sz="1300" u="none" cap="none" strike="noStrike">
                        <a:solidFill>
                          <a:schemeClr val="dk1"/>
                        </a:solidFill>
                        <a:latin typeface="Nunito Sans"/>
                        <a:ea typeface="Nunito Sans"/>
                        <a:cs typeface="Nunito Sans"/>
                        <a:sym typeface="Nunito Sans"/>
                      </a:endParaRPr>
                    </a:p>
                  </a:txBody>
                  <a:tcPr marT="121900" marB="121900" marR="91425" marL="91425" anchor="ctr">
                    <a:lnL cap="flat" cmpd="sng" w="9525">
                      <a:solidFill>
                        <a:srgbClr val="FFDF99"/>
                      </a:solidFill>
                      <a:prstDash val="solid"/>
                      <a:round/>
                      <a:headEnd len="sm" w="sm" type="none"/>
                      <a:tailEnd len="sm" w="sm" type="none"/>
                    </a:lnL>
                    <a:lnR cap="flat" cmpd="sng" w="9525">
                      <a:solidFill>
                        <a:srgbClr val="FFDF99"/>
                      </a:solidFill>
                      <a:prstDash val="solid"/>
                      <a:round/>
                      <a:headEnd len="sm" w="sm" type="none"/>
                      <a:tailEnd len="sm" w="sm" type="none"/>
                    </a:lnR>
                    <a:lnT cap="flat" cmpd="sng" w="9525">
                      <a:solidFill>
                        <a:srgbClr val="FFDF99"/>
                      </a:solidFill>
                      <a:prstDash val="solid"/>
                      <a:round/>
                      <a:headEnd len="sm" w="sm" type="none"/>
                      <a:tailEnd len="sm" w="sm" type="none"/>
                    </a:lnT>
                    <a:lnB cap="flat" cmpd="sng" w="9525">
                      <a:solidFill>
                        <a:srgbClr val="FFDF99"/>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F"/>
        </a:solidFill>
      </p:bgPr>
    </p:bg>
    <p:spTree>
      <p:nvGrpSpPr>
        <p:cNvPr id="79" name="Shape 79"/>
        <p:cNvGrpSpPr/>
        <p:nvPr/>
      </p:nvGrpSpPr>
      <p:grpSpPr>
        <a:xfrm>
          <a:off x="0" y="0"/>
          <a:ext cx="0" cy="0"/>
          <a:chOff x="0" y="0"/>
          <a:chExt cx="0" cy="0"/>
        </a:xfrm>
      </p:grpSpPr>
      <p:pic>
        <p:nvPicPr>
          <p:cNvPr id="80" name="Google Shape;80;p3"/>
          <p:cNvPicPr preferRelativeResize="0"/>
          <p:nvPr/>
        </p:nvPicPr>
        <p:blipFill rotWithShape="1">
          <a:blip r:embed="rId3">
            <a:alphaModFix/>
          </a:blip>
          <a:srcRect b="0" l="0" r="0" t="0"/>
          <a:stretch/>
        </p:blipFill>
        <p:spPr>
          <a:xfrm>
            <a:off x="4201663" y="1372271"/>
            <a:ext cx="740664" cy="740664"/>
          </a:xfrm>
          <a:prstGeom prst="rect">
            <a:avLst/>
          </a:prstGeom>
          <a:noFill/>
          <a:ln>
            <a:noFill/>
          </a:ln>
        </p:spPr>
      </p:pic>
      <p:sp>
        <p:nvSpPr>
          <p:cNvPr id="81" name="Google Shape;81;p3"/>
          <p:cNvSpPr txBox="1"/>
          <p:nvPr>
            <p:ph idx="4294967295" type="title"/>
          </p:nvPr>
        </p:nvSpPr>
        <p:spPr>
          <a:xfrm>
            <a:off x="2059350" y="2409126"/>
            <a:ext cx="5025300" cy="50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1800">
                <a:latin typeface="Nunito Sans"/>
                <a:ea typeface="Nunito Sans"/>
                <a:cs typeface="Nunito Sans"/>
                <a:sym typeface="Nunito Sans"/>
              </a:rPr>
              <a:t>Success criteria templates</a:t>
            </a:r>
            <a:endParaRPr b="1" sz="1800">
              <a:latin typeface="Nunito Sans"/>
              <a:ea typeface="Nunito Sans"/>
              <a:cs typeface="Nunito Sans"/>
              <a:sym typeface="Nunito Sans"/>
            </a:endParaRPr>
          </a:p>
        </p:txBody>
      </p:sp>
      <p:sp>
        <p:nvSpPr>
          <p:cNvPr id="82" name="Google Shape;82;p3"/>
          <p:cNvSpPr txBox="1"/>
          <p:nvPr/>
        </p:nvSpPr>
        <p:spPr>
          <a:xfrm>
            <a:off x="2397150" y="3209625"/>
            <a:ext cx="4349700" cy="23667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rPr b="0" i="0" lang="en" sz="2100" u="none" cap="none" strike="noStrike">
                <a:solidFill>
                  <a:schemeClr val="dk1"/>
                </a:solidFill>
                <a:latin typeface="Nunito Sans"/>
                <a:ea typeface="Nunito Sans"/>
                <a:cs typeface="Nunito Sans"/>
                <a:sym typeface="Nunito Sans"/>
              </a:rPr>
              <a:t>Success criteria are a list of specifications that your product needs to have to be successful. These templates will help you </a:t>
            </a:r>
            <a:r>
              <a:rPr b="1" i="0" lang="en" sz="2100" u="none" cap="none" strike="noStrike">
                <a:solidFill>
                  <a:schemeClr val="dk1"/>
                </a:solidFill>
                <a:latin typeface="Nunito Sans"/>
                <a:ea typeface="Nunito Sans"/>
                <a:cs typeface="Nunito Sans"/>
                <a:sym typeface="Nunito Sans"/>
              </a:rPr>
              <a:t>develop appropriate success criteria for your product.</a:t>
            </a:r>
            <a:r>
              <a:rPr b="0" i="0" lang="en" sz="1200" u="none" cap="none" strike="noStrike">
                <a:solidFill>
                  <a:schemeClr val="dk1"/>
                </a:solidFill>
                <a:latin typeface="Nunito Sans"/>
                <a:ea typeface="Nunito Sans"/>
                <a:cs typeface="Nunito Sans"/>
                <a:sym typeface="Nunito Sans"/>
              </a:rPr>
              <a:t> </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graphicFrame>
        <p:nvGraphicFramePr>
          <p:cNvPr id="87" name="Google Shape;87;p4"/>
          <p:cNvGraphicFramePr/>
          <p:nvPr/>
        </p:nvGraphicFramePr>
        <p:xfrm>
          <a:off x="680275" y="1688833"/>
          <a:ext cx="3000000" cy="3000000"/>
        </p:xfrm>
        <a:graphic>
          <a:graphicData uri="http://schemas.openxmlformats.org/drawingml/2006/table">
            <a:tbl>
              <a:tblPr bandRow="1">
                <a:noFill/>
                <a:tableStyleId>{C3B1330D-6BD1-4FA4-8FAF-BC396F8A9BD1}</a:tableStyleId>
              </a:tblPr>
              <a:tblGrid>
                <a:gridCol w="2590825"/>
                <a:gridCol w="2590825"/>
                <a:gridCol w="2591650"/>
              </a:tblGrid>
              <a:tr h="941525">
                <a:tc>
                  <a:txBody>
                    <a:bodyPr/>
                    <a:lstStyle/>
                    <a:p>
                      <a:pPr indent="0" lvl="0" marL="0" marR="0" rtl="0" algn="l">
                        <a:lnSpc>
                          <a:spcPct val="115000"/>
                        </a:lnSpc>
                        <a:spcBef>
                          <a:spcPts val="0"/>
                        </a:spcBef>
                        <a:spcAft>
                          <a:spcPts val="0"/>
                        </a:spcAft>
                        <a:buClr>
                          <a:srgbClr val="000000"/>
                        </a:buClr>
                        <a:buSzPts val="1500"/>
                        <a:buFont typeface="Arial"/>
                        <a:buNone/>
                      </a:pPr>
                      <a:r>
                        <a:rPr b="1" lang="en" sz="1500" u="none" cap="none" strike="noStrike">
                          <a:latin typeface="Nunito Sans"/>
                          <a:ea typeface="Nunito Sans"/>
                          <a:cs typeface="Nunito Sans"/>
                          <a:sym typeface="Nunito Sans"/>
                        </a:rPr>
                        <a:t>Advanced</a:t>
                      </a:r>
                      <a:endParaRPr b="1" sz="1500" u="none" cap="none" strike="noStrike">
                        <a:latin typeface="Nunito Sans"/>
                        <a:ea typeface="Nunito Sans"/>
                        <a:cs typeface="Nunito Sans"/>
                        <a:sym typeface="Nunito Sans"/>
                      </a:endParaRPr>
                    </a:p>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Evidence of exceeding standard</a:t>
                      </a:r>
                      <a:endParaRPr sz="1300" u="none" cap="none" strike="noStrike">
                        <a:latin typeface="Nunito Sans"/>
                        <a:ea typeface="Nunito Sans"/>
                        <a:cs typeface="Nunito Sans"/>
                        <a:sym typeface="Nunito Sans"/>
                      </a:endParaRPr>
                    </a:p>
                  </a:txBody>
                  <a:tcPr marT="0" marB="0" marR="68575" marL="68575"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15000"/>
                        </a:lnSpc>
                        <a:spcBef>
                          <a:spcPts val="0"/>
                        </a:spcBef>
                        <a:spcAft>
                          <a:spcPts val="0"/>
                        </a:spcAft>
                        <a:buClr>
                          <a:srgbClr val="000000"/>
                        </a:buClr>
                        <a:buSzPts val="1500"/>
                        <a:buFont typeface="Arial"/>
                        <a:buNone/>
                      </a:pPr>
                      <a:r>
                        <a:rPr b="1" lang="en" sz="1500" u="none" cap="none" strike="noStrike">
                          <a:latin typeface="Nunito Sans"/>
                          <a:ea typeface="Nunito Sans"/>
                          <a:cs typeface="Nunito Sans"/>
                          <a:sym typeface="Nunito Sans"/>
                        </a:rPr>
                        <a:t>Criteria</a:t>
                      </a:r>
                      <a:endParaRPr b="1" sz="1500" u="none" cap="none" strike="noStrike">
                        <a:latin typeface="Nunito Sans"/>
                        <a:ea typeface="Nunito Sans"/>
                        <a:cs typeface="Nunito Sans"/>
                        <a:sym typeface="Nunito Sans"/>
                      </a:endParaRPr>
                    </a:p>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Standard for the product goal</a:t>
                      </a:r>
                      <a:endParaRPr sz="1300" u="none" cap="none" strike="noStrike">
                        <a:latin typeface="Nunito Sans"/>
                        <a:ea typeface="Nunito Sans"/>
                        <a:cs typeface="Nunito Sans"/>
                        <a:sym typeface="Nunito Sans"/>
                      </a:endParaRPr>
                    </a:p>
                  </a:txBody>
                  <a:tcPr marT="0" marB="0" marR="68575" marL="68575"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15000"/>
                        </a:lnSpc>
                        <a:spcBef>
                          <a:spcPts val="0"/>
                        </a:spcBef>
                        <a:spcAft>
                          <a:spcPts val="0"/>
                        </a:spcAft>
                        <a:buClr>
                          <a:srgbClr val="000000"/>
                        </a:buClr>
                        <a:buSzPts val="1500"/>
                        <a:buFont typeface="Arial"/>
                        <a:buNone/>
                      </a:pPr>
                      <a:r>
                        <a:rPr b="1" lang="en" sz="1500" u="none" cap="none" strike="noStrike">
                          <a:latin typeface="Nunito Sans"/>
                          <a:ea typeface="Nunito Sans"/>
                          <a:cs typeface="Nunito Sans"/>
                          <a:sym typeface="Nunito Sans"/>
                        </a:rPr>
                        <a:t>Approaching</a:t>
                      </a:r>
                      <a:endParaRPr b="1" sz="1500" u="none" cap="none" strike="noStrike">
                        <a:latin typeface="Nunito Sans"/>
                        <a:ea typeface="Nunito Sans"/>
                        <a:cs typeface="Nunito Sans"/>
                        <a:sym typeface="Nunito Sans"/>
                      </a:endParaRPr>
                    </a:p>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 Areas that need improvement</a:t>
                      </a:r>
                      <a:endParaRPr sz="1300" u="none" cap="none" strike="noStrike">
                        <a:latin typeface="Nunito Sans"/>
                        <a:ea typeface="Nunito Sans"/>
                        <a:cs typeface="Nunito Sans"/>
                        <a:sym typeface="Nunito Sans"/>
                      </a:endParaRPr>
                    </a:p>
                  </a:txBody>
                  <a:tcPr marT="0" marB="0" marR="68575" marL="68575"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r>
              <a:tr h="2996800">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Calibri"/>
                        <a:ea typeface="Calibri"/>
                        <a:cs typeface="Calibri"/>
                        <a:sym typeface="Calibri"/>
                      </a:endParaRPr>
                    </a:p>
                  </a:txBody>
                  <a:tcPr marT="0" marB="0" marR="68575" marL="68575">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Calibri"/>
                        <a:ea typeface="Calibri"/>
                        <a:cs typeface="Calibri"/>
                        <a:sym typeface="Calibri"/>
                      </a:endParaRPr>
                    </a:p>
                  </a:txBody>
                  <a:tcPr marT="0" marB="0" marR="68575" marL="68575">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Calibri"/>
                        <a:ea typeface="Calibri"/>
                        <a:cs typeface="Calibri"/>
                        <a:sym typeface="Calibri"/>
                      </a:endParaRPr>
                    </a:p>
                  </a:txBody>
                  <a:tcPr marT="0" marB="0" marR="68575" marL="68575">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bl>
          </a:graphicData>
        </a:graphic>
      </p:graphicFrame>
      <p:sp>
        <p:nvSpPr>
          <p:cNvPr id="88" name="Google Shape;88;p4"/>
          <p:cNvSpPr txBox="1"/>
          <p:nvPr/>
        </p:nvSpPr>
        <p:spPr>
          <a:xfrm>
            <a:off x="588275" y="1009833"/>
            <a:ext cx="7773300" cy="360300"/>
          </a:xfrm>
          <a:prstGeom prst="rect">
            <a:avLst/>
          </a:prstGeom>
          <a:noFill/>
          <a:ln>
            <a:noFill/>
          </a:ln>
        </p:spPr>
        <p:txBody>
          <a:bodyPr anchorCtr="0" anchor="t" bIns="91425" lIns="91425" spcFirstLastPara="1" rIns="91425" wrap="square" tIns="91425">
            <a:spAutoFit/>
          </a:bodyPr>
          <a:lstStyle/>
          <a:p>
            <a:pPr indent="0" lvl="0" marL="0" marR="0" rtl="0" algn="l">
              <a:lnSpc>
                <a:spcPct val="95000"/>
              </a:lnSpc>
              <a:spcBef>
                <a:spcPts val="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Write down the criteria that your product should meet if it’s successful in the middle column of the rubric. </a:t>
            </a:r>
            <a:endParaRPr b="0" i="0" sz="1200" u="none" cap="none" strike="noStrike">
              <a:solidFill>
                <a:schemeClr val="dk1"/>
              </a:solidFill>
              <a:latin typeface="Nunito Sans"/>
              <a:ea typeface="Nunito Sans"/>
              <a:cs typeface="Nunito Sans"/>
              <a:sym typeface="Nunito Sans"/>
            </a:endParaRPr>
          </a:p>
        </p:txBody>
      </p:sp>
      <p:sp>
        <p:nvSpPr>
          <p:cNvPr id="89" name="Google Shape;89;p4"/>
          <p:cNvSpPr txBox="1"/>
          <p:nvPr/>
        </p:nvSpPr>
        <p:spPr>
          <a:xfrm>
            <a:off x="588275" y="539300"/>
            <a:ext cx="3000000" cy="404100"/>
          </a:xfrm>
          <a:prstGeom prst="rect">
            <a:avLst/>
          </a:prstGeom>
          <a:noFill/>
          <a:ln>
            <a:noFill/>
          </a:ln>
        </p:spPr>
        <p:txBody>
          <a:bodyPr anchorCtr="0" anchor="t" bIns="91425" lIns="91425" spcFirstLastPara="1" rIns="91425" wrap="square" tIns="91425">
            <a:spAutoFit/>
          </a:bodyPr>
          <a:lstStyle/>
          <a:p>
            <a:pPr indent="0" lvl="0" marL="0" marR="0" rtl="0" algn="l">
              <a:lnSpc>
                <a:spcPct val="95000"/>
              </a:lnSpc>
              <a:spcBef>
                <a:spcPts val="0"/>
              </a:spcBef>
              <a:spcAft>
                <a:spcPts val="0"/>
              </a:spcAft>
              <a:buClr>
                <a:srgbClr val="000000"/>
              </a:buClr>
              <a:buSzPts val="1500"/>
              <a:buFont typeface="Arial"/>
              <a:buNone/>
            </a:pPr>
            <a:r>
              <a:rPr b="1" i="0" lang="en" sz="1500" u="none" cap="none" strike="noStrike">
                <a:solidFill>
                  <a:schemeClr val="dk1"/>
                </a:solidFill>
                <a:highlight>
                  <a:srgbClr val="F5F5FF"/>
                </a:highlight>
                <a:latin typeface="Nunito Sans"/>
                <a:ea typeface="Nunito Sans"/>
                <a:cs typeface="Nunito Sans"/>
                <a:sym typeface="Nunito Sans"/>
              </a:rPr>
              <a:t>Single point rubric</a:t>
            </a:r>
            <a:endParaRPr b="1" i="0" sz="1500" u="none" cap="none" strike="noStrike">
              <a:solidFill>
                <a:schemeClr val="dk1"/>
              </a:solidFill>
              <a:highlight>
                <a:srgbClr val="F5F5FF"/>
              </a:highlight>
              <a:latin typeface="Nunito Sans"/>
              <a:ea typeface="Nunito Sans"/>
              <a:cs typeface="Nunito Sans"/>
              <a:sym typeface="Nuni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5"/>
          <p:cNvSpPr txBox="1"/>
          <p:nvPr/>
        </p:nvSpPr>
        <p:spPr>
          <a:xfrm>
            <a:off x="583000" y="990000"/>
            <a:ext cx="7795500" cy="58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Thinking about your product, design specifications that describe what the product will be. Give as much detail as you can so you can easily explain whether you’ve met the specification at the end.</a:t>
            </a:r>
            <a:endParaRPr b="0" i="0" sz="1200" u="none" cap="none" strike="noStrike">
              <a:solidFill>
                <a:schemeClr val="dk1"/>
              </a:solidFill>
              <a:latin typeface="Nunito Sans"/>
              <a:ea typeface="Nunito Sans"/>
              <a:cs typeface="Nunito Sans"/>
              <a:sym typeface="Nunito Sans"/>
            </a:endParaRPr>
          </a:p>
        </p:txBody>
      </p:sp>
      <p:graphicFrame>
        <p:nvGraphicFramePr>
          <p:cNvPr id="95" name="Google Shape;95;p5"/>
          <p:cNvGraphicFramePr/>
          <p:nvPr/>
        </p:nvGraphicFramePr>
        <p:xfrm>
          <a:off x="680250" y="1948667"/>
          <a:ext cx="3000000" cy="3000000"/>
        </p:xfrm>
        <a:graphic>
          <a:graphicData uri="http://schemas.openxmlformats.org/drawingml/2006/table">
            <a:tbl>
              <a:tblPr>
                <a:noFill/>
                <a:tableStyleId>{45941D38-FAF8-4977-8D50-FB8890D63691}</a:tableStyleId>
              </a:tblPr>
              <a:tblGrid>
                <a:gridCol w="3037550"/>
                <a:gridCol w="833300"/>
                <a:gridCol w="1039425"/>
                <a:gridCol w="2885225"/>
              </a:tblGrid>
              <a:tr h="353925">
                <a:tc gridSpan="4">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My Product:</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hMerge="1"/>
                <a:tc hMerge="1"/>
                <a:tc hMerge="1"/>
              </a:tr>
              <a:tr h="409100">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Fully met?</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Partially met?</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Description</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r>
              <a:tr h="35392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Specification:</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35392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Details:</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vMerge="1"/>
                <a:tc vMerge="1"/>
                <a:tc vMerge="1"/>
              </a:tr>
              <a:tr h="35392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Specification:</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35392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Details:</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vMerge="1"/>
                <a:tc vMerge="1"/>
                <a:tc vMerge="1"/>
              </a:tr>
              <a:tr h="35392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Specification:</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35392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Details:</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vMerge="1"/>
                <a:tc vMerge="1"/>
                <a:tc vMerge="1"/>
              </a:tr>
              <a:tr h="35392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Specification:</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35392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Details:</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vMerge="1"/>
                <a:tc vMerge="1"/>
                <a:tc vMerge="1"/>
              </a:tr>
            </a:tbl>
          </a:graphicData>
        </a:graphic>
      </p:graphicFrame>
      <p:sp>
        <p:nvSpPr>
          <p:cNvPr id="96" name="Google Shape;96;p5"/>
          <p:cNvSpPr txBox="1"/>
          <p:nvPr/>
        </p:nvSpPr>
        <p:spPr>
          <a:xfrm>
            <a:off x="583000" y="519467"/>
            <a:ext cx="3000000" cy="404100"/>
          </a:xfrm>
          <a:prstGeom prst="rect">
            <a:avLst/>
          </a:prstGeom>
          <a:noFill/>
          <a:ln>
            <a:noFill/>
          </a:ln>
        </p:spPr>
        <p:txBody>
          <a:bodyPr anchorCtr="0" anchor="t" bIns="91425" lIns="91425" spcFirstLastPara="1" rIns="91425" wrap="square" tIns="91425">
            <a:spAutoFit/>
          </a:bodyPr>
          <a:lstStyle/>
          <a:p>
            <a:pPr indent="0" lvl="0" marL="0" marR="0" rtl="0" algn="l">
              <a:lnSpc>
                <a:spcPct val="95000"/>
              </a:lnSpc>
              <a:spcBef>
                <a:spcPts val="0"/>
              </a:spcBef>
              <a:spcAft>
                <a:spcPts val="0"/>
              </a:spcAft>
              <a:buClr>
                <a:srgbClr val="000000"/>
              </a:buClr>
              <a:buSzPts val="1500"/>
              <a:buFont typeface="Arial"/>
              <a:buNone/>
            </a:pPr>
            <a:r>
              <a:rPr b="1" i="0" lang="en" sz="1500" u="none" cap="none" strike="noStrike">
                <a:solidFill>
                  <a:schemeClr val="dk1"/>
                </a:solidFill>
                <a:highlight>
                  <a:srgbClr val="F5F5FF"/>
                </a:highlight>
                <a:latin typeface="Nunito Sans"/>
                <a:ea typeface="Nunito Sans"/>
                <a:cs typeface="Nunito Sans"/>
                <a:sym typeface="Nunito Sans"/>
              </a:rPr>
              <a:t>Specifications</a:t>
            </a:r>
            <a:endParaRPr b="1" i="0" sz="1500" u="none" cap="none" strike="noStrike">
              <a:solidFill>
                <a:schemeClr val="dk1"/>
              </a:solidFill>
              <a:highlight>
                <a:srgbClr val="F5F5FF"/>
              </a:highlight>
              <a:latin typeface="Nunito Sans"/>
              <a:ea typeface="Nunito Sans"/>
              <a:cs typeface="Nunito Sans"/>
              <a:sym typeface="Nuni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6"/>
          <p:cNvSpPr txBox="1"/>
          <p:nvPr/>
        </p:nvSpPr>
        <p:spPr>
          <a:xfrm>
            <a:off x="588275" y="991967"/>
            <a:ext cx="7797300" cy="794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Thinking about your product, design specifications that describe what the product will be. Give as much detail as you can so you can easily explain whether you’ve met the specification at the end. With this table you can also rank the specifications by priority and include details on how you will test the success.</a:t>
            </a:r>
            <a:endParaRPr b="0" i="0" sz="1200" u="none" cap="none" strike="noStrike">
              <a:solidFill>
                <a:schemeClr val="dk1"/>
              </a:solidFill>
              <a:latin typeface="Nunito Sans"/>
              <a:ea typeface="Nunito Sans"/>
              <a:cs typeface="Nunito Sans"/>
              <a:sym typeface="Nunito Sans"/>
            </a:endParaRPr>
          </a:p>
        </p:txBody>
      </p:sp>
      <p:graphicFrame>
        <p:nvGraphicFramePr>
          <p:cNvPr id="102" name="Google Shape;102;p6"/>
          <p:cNvGraphicFramePr/>
          <p:nvPr/>
        </p:nvGraphicFramePr>
        <p:xfrm>
          <a:off x="680250" y="2235833"/>
          <a:ext cx="3000000" cy="3000000"/>
        </p:xfrm>
        <a:graphic>
          <a:graphicData uri="http://schemas.openxmlformats.org/drawingml/2006/table">
            <a:tbl>
              <a:tblPr>
                <a:noFill/>
                <a:tableStyleId>{45941D38-FAF8-4977-8D50-FB8890D63691}</a:tableStyleId>
              </a:tblPr>
              <a:tblGrid>
                <a:gridCol w="1909950"/>
                <a:gridCol w="1515850"/>
                <a:gridCol w="2449275"/>
                <a:gridCol w="1922250"/>
              </a:tblGrid>
              <a:tr h="371600">
                <a:tc gridSpan="4">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My product:</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hMerge="1"/>
                <a:tc hMerge="1"/>
                <a:tc hMerge="1"/>
              </a:tr>
              <a:tr h="442400">
                <a:tc>
                  <a:txBody>
                    <a:bodyPr/>
                    <a:lstStyle/>
                    <a:p>
                      <a:pPr indent="0" lvl="0" marL="0" marR="0" rtl="0" algn="l">
                        <a:lnSpc>
                          <a:spcPct val="100000"/>
                        </a:lnSpc>
                        <a:spcBef>
                          <a:spcPts val="0"/>
                        </a:spcBef>
                        <a:spcAft>
                          <a:spcPts val="0"/>
                        </a:spcAft>
                        <a:buClr>
                          <a:srgbClr val="000000"/>
                        </a:buClr>
                        <a:buSzPts val="1300"/>
                        <a:buFont typeface="Arial"/>
                        <a:buNone/>
                      </a:pPr>
                      <a:r>
                        <a:t/>
                      </a:r>
                      <a:endParaRPr b="1"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Priority</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Testing Method:</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Success?</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r>
              <a:tr h="371600">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emiBold"/>
                          <a:ea typeface="Nunito SemiBold"/>
                          <a:cs typeface="Nunito SemiBold"/>
                          <a:sym typeface="Nunito SemiBold"/>
                        </a:rPr>
                        <a:t>Criteria:</a:t>
                      </a:r>
                      <a:endParaRPr sz="1300" u="none" cap="none" strike="noStrike">
                        <a:latin typeface="Nunito SemiBold"/>
                        <a:ea typeface="Nunito SemiBold"/>
                        <a:cs typeface="Nunito SemiBold"/>
                        <a:sym typeface="Nunito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High Priority</a:t>
                      </a:r>
                      <a:endParaRPr sz="1300" u="none" cap="none" strike="noStrike">
                        <a:latin typeface="Nunito Sans"/>
                        <a:ea typeface="Nunito Sans"/>
                        <a:cs typeface="Nunito Sans"/>
                        <a:sym typeface="Nunito Sans"/>
                      </a:endParaRPr>
                    </a:p>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Low Priority</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Full Success</a:t>
                      </a:r>
                      <a:endParaRPr sz="1300" u="none" cap="none" strike="noStrike">
                        <a:latin typeface="Nunito Sans"/>
                        <a:ea typeface="Nunito Sans"/>
                        <a:cs typeface="Nunito Sans"/>
                        <a:sym typeface="Nunito Sans"/>
                      </a:endParaRPr>
                    </a:p>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Partially Success</a:t>
                      </a:r>
                      <a:endParaRPr sz="1300" u="none" cap="none" strike="noStrike">
                        <a:latin typeface="Nunito Sans"/>
                        <a:ea typeface="Nunito Sans"/>
                        <a:cs typeface="Nunito Sans"/>
                        <a:sym typeface="Nunito Sans"/>
                      </a:endParaRPr>
                    </a:p>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N/A</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43907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Details:</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vMerge="1"/>
                <a:tc vMerge="1"/>
                <a:tc vMerge="1"/>
              </a:tr>
              <a:tr h="371600">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Criteria:</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High Priority</a:t>
                      </a:r>
                      <a:endParaRPr sz="1300" u="none" cap="none" strike="noStrike">
                        <a:latin typeface="Nunito Sans"/>
                        <a:ea typeface="Nunito Sans"/>
                        <a:cs typeface="Nunito Sans"/>
                        <a:sym typeface="Nunito Sans"/>
                      </a:endParaRPr>
                    </a:p>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Low Priority</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Full Success</a:t>
                      </a:r>
                      <a:endParaRPr sz="1300" u="none" cap="none" strike="noStrike">
                        <a:latin typeface="Nunito Sans"/>
                        <a:ea typeface="Nunito Sans"/>
                        <a:cs typeface="Nunito Sans"/>
                        <a:sym typeface="Nunito Sans"/>
                      </a:endParaRPr>
                    </a:p>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Partially Success</a:t>
                      </a:r>
                      <a:endParaRPr sz="1300" u="none" cap="none" strike="noStrike">
                        <a:latin typeface="Nunito Sans"/>
                        <a:ea typeface="Nunito Sans"/>
                        <a:cs typeface="Nunito Sans"/>
                        <a:sym typeface="Nunito Sans"/>
                      </a:endParaRPr>
                    </a:p>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N/A</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483500">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Details:</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vMerge="1"/>
                <a:tc vMerge="1"/>
                <a:tc vMerge="1"/>
              </a:tr>
              <a:tr h="371600">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Criteria:</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High Priority</a:t>
                      </a:r>
                      <a:endParaRPr sz="1300" u="none" cap="none" strike="noStrike">
                        <a:latin typeface="Nunito Sans"/>
                        <a:ea typeface="Nunito Sans"/>
                        <a:cs typeface="Nunito Sans"/>
                        <a:sym typeface="Nunito Sans"/>
                      </a:endParaRPr>
                    </a:p>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Low Priority</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Full Success</a:t>
                      </a:r>
                      <a:endParaRPr sz="1300" u="none" cap="none" strike="noStrike">
                        <a:latin typeface="Nunito Sans"/>
                        <a:ea typeface="Nunito Sans"/>
                        <a:cs typeface="Nunito Sans"/>
                        <a:sym typeface="Nunito Sans"/>
                      </a:endParaRPr>
                    </a:p>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Partially Success</a:t>
                      </a:r>
                      <a:endParaRPr sz="1300" u="none" cap="none" strike="noStrike">
                        <a:latin typeface="Nunito Sans"/>
                        <a:ea typeface="Nunito Sans"/>
                        <a:cs typeface="Nunito Sans"/>
                        <a:sym typeface="Nunito Sans"/>
                      </a:endParaRPr>
                    </a:p>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N/A</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54272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Details:</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vMerge="1"/>
                <a:tc vMerge="1"/>
                <a:tc vMerge="1"/>
              </a:tr>
            </a:tbl>
          </a:graphicData>
        </a:graphic>
      </p:graphicFrame>
      <p:sp>
        <p:nvSpPr>
          <p:cNvPr id="103" name="Google Shape;103;p6"/>
          <p:cNvSpPr txBox="1"/>
          <p:nvPr/>
        </p:nvSpPr>
        <p:spPr>
          <a:xfrm>
            <a:off x="588275" y="521433"/>
            <a:ext cx="3000000" cy="404100"/>
          </a:xfrm>
          <a:prstGeom prst="rect">
            <a:avLst/>
          </a:prstGeom>
          <a:noFill/>
          <a:ln>
            <a:noFill/>
          </a:ln>
        </p:spPr>
        <p:txBody>
          <a:bodyPr anchorCtr="0" anchor="t" bIns="91425" lIns="91425" spcFirstLastPara="1" rIns="91425" wrap="square" tIns="91425">
            <a:spAutoFit/>
          </a:bodyPr>
          <a:lstStyle/>
          <a:p>
            <a:pPr indent="0" lvl="0" marL="0" marR="0" rtl="0" algn="l">
              <a:lnSpc>
                <a:spcPct val="95000"/>
              </a:lnSpc>
              <a:spcBef>
                <a:spcPts val="0"/>
              </a:spcBef>
              <a:spcAft>
                <a:spcPts val="0"/>
              </a:spcAft>
              <a:buClr>
                <a:srgbClr val="000000"/>
              </a:buClr>
              <a:buSzPts val="1500"/>
              <a:buFont typeface="Arial"/>
              <a:buNone/>
            </a:pPr>
            <a:r>
              <a:rPr b="1" i="0" lang="en" sz="1500" u="none" cap="none" strike="noStrike">
                <a:solidFill>
                  <a:schemeClr val="dk1"/>
                </a:solidFill>
                <a:highlight>
                  <a:srgbClr val="F5F5FF"/>
                </a:highlight>
                <a:latin typeface="Nunito Sans"/>
                <a:ea typeface="Nunito Sans"/>
                <a:cs typeface="Nunito Sans"/>
                <a:sym typeface="Nunito Sans"/>
              </a:rPr>
              <a:t>Specifications</a:t>
            </a:r>
            <a:endParaRPr b="1" i="0" sz="1500" u="none" cap="none" strike="noStrike">
              <a:solidFill>
                <a:schemeClr val="dk1"/>
              </a:solidFill>
              <a:highlight>
                <a:srgbClr val="F5F5FF"/>
              </a:highlight>
              <a:latin typeface="Nunito Sans"/>
              <a:ea typeface="Nunito Sans"/>
              <a:cs typeface="Nunito Sans"/>
              <a:sym typeface="Nunit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7"/>
          <p:cNvPicPr preferRelativeResize="0"/>
          <p:nvPr/>
        </p:nvPicPr>
        <p:blipFill rotWithShape="1">
          <a:blip r:embed="rId3">
            <a:alphaModFix/>
          </a:blip>
          <a:srcRect b="0" l="0" r="0" t="0"/>
          <a:stretch/>
        </p:blipFill>
        <p:spPr>
          <a:xfrm>
            <a:off x="678251" y="3712117"/>
            <a:ext cx="301752" cy="301752"/>
          </a:xfrm>
          <a:prstGeom prst="rect">
            <a:avLst/>
          </a:prstGeom>
          <a:noFill/>
          <a:ln>
            <a:noFill/>
          </a:ln>
        </p:spPr>
      </p:pic>
      <p:pic>
        <p:nvPicPr>
          <p:cNvPr id="109" name="Google Shape;109;p7"/>
          <p:cNvPicPr preferRelativeResize="0"/>
          <p:nvPr/>
        </p:nvPicPr>
        <p:blipFill rotWithShape="1">
          <a:blip r:embed="rId4">
            <a:alphaModFix/>
          </a:blip>
          <a:srcRect b="0" l="0" r="0" t="0"/>
          <a:stretch/>
        </p:blipFill>
        <p:spPr>
          <a:xfrm>
            <a:off x="6127251" y="3712117"/>
            <a:ext cx="301752" cy="301752"/>
          </a:xfrm>
          <a:prstGeom prst="rect">
            <a:avLst/>
          </a:prstGeom>
          <a:noFill/>
          <a:ln>
            <a:noFill/>
          </a:ln>
        </p:spPr>
      </p:pic>
      <p:pic>
        <p:nvPicPr>
          <p:cNvPr id="110" name="Google Shape;110;p7"/>
          <p:cNvPicPr preferRelativeResize="0"/>
          <p:nvPr/>
        </p:nvPicPr>
        <p:blipFill rotWithShape="1">
          <a:blip r:embed="rId5">
            <a:alphaModFix/>
          </a:blip>
          <a:srcRect b="0" l="0" r="0" t="0"/>
          <a:stretch/>
        </p:blipFill>
        <p:spPr>
          <a:xfrm>
            <a:off x="678238" y="2560484"/>
            <a:ext cx="301752" cy="301752"/>
          </a:xfrm>
          <a:prstGeom prst="rect">
            <a:avLst/>
          </a:prstGeom>
          <a:noFill/>
          <a:ln>
            <a:noFill/>
          </a:ln>
        </p:spPr>
      </p:pic>
      <p:pic>
        <p:nvPicPr>
          <p:cNvPr id="111" name="Google Shape;111;p7"/>
          <p:cNvPicPr preferRelativeResize="0"/>
          <p:nvPr/>
        </p:nvPicPr>
        <p:blipFill rotWithShape="1">
          <a:blip r:embed="rId6">
            <a:alphaModFix/>
          </a:blip>
          <a:srcRect b="0" l="0" r="0" t="0"/>
          <a:stretch/>
        </p:blipFill>
        <p:spPr>
          <a:xfrm>
            <a:off x="681763" y="4863767"/>
            <a:ext cx="301752" cy="301752"/>
          </a:xfrm>
          <a:prstGeom prst="rect">
            <a:avLst/>
          </a:prstGeom>
          <a:noFill/>
          <a:ln>
            <a:noFill/>
          </a:ln>
        </p:spPr>
      </p:pic>
      <p:pic>
        <p:nvPicPr>
          <p:cNvPr id="112" name="Google Shape;112;p7"/>
          <p:cNvPicPr preferRelativeResize="0"/>
          <p:nvPr/>
        </p:nvPicPr>
        <p:blipFill rotWithShape="1">
          <a:blip r:embed="rId7">
            <a:alphaModFix/>
          </a:blip>
          <a:srcRect b="0" l="0" r="0" t="0"/>
          <a:stretch/>
        </p:blipFill>
        <p:spPr>
          <a:xfrm>
            <a:off x="6127238" y="2560484"/>
            <a:ext cx="301752" cy="301752"/>
          </a:xfrm>
          <a:prstGeom prst="rect">
            <a:avLst/>
          </a:prstGeom>
          <a:noFill/>
          <a:ln>
            <a:noFill/>
          </a:ln>
        </p:spPr>
      </p:pic>
      <p:sp>
        <p:nvSpPr>
          <p:cNvPr id="113" name="Google Shape;113;p7"/>
          <p:cNvSpPr txBox="1"/>
          <p:nvPr/>
        </p:nvSpPr>
        <p:spPr>
          <a:xfrm>
            <a:off x="572675" y="1006400"/>
            <a:ext cx="7788000" cy="58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Design your specifications in as much detail as possible. You can include the evidence that supports your evaluation of success at the end. </a:t>
            </a:r>
            <a:endParaRPr b="0" i="0" sz="1200" u="none" cap="none" strike="noStrike">
              <a:solidFill>
                <a:srgbClr val="000000"/>
              </a:solidFill>
              <a:latin typeface="Nunito Sans"/>
              <a:ea typeface="Nunito Sans"/>
              <a:cs typeface="Nunito Sans"/>
              <a:sym typeface="Nunito Sans"/>
            </a:endParaRPr>
          </a:p>
        </p:txBody>
      </p:sp>
      <p:sp>
        <p:nvSpPr>
          <p:cNvPr id="114" name="Google Shape;114;p7"/>
          <p:cNvSpPr txBox="1"/>
          <p:nvPr/>
        </p:nvSpPr>
        <p:spPr>
          <a:xfrm>
            <a:off x="572675" y="526433"/>
            <a:ext cx="3000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500"/>
              <a:buFont typeface="Arial"/>
              <a:buNone/>
            </a:pPr>
            <a:r>
              <a:rPr b="1" i="0" lang="en" sz="1500" u="none" cap="none" strike="noStrike">
                <a:solidFill>
                  <a:schemeClr val="dk1"/>
                </a:solidFill>
                <a:highlight>
                  <a:srgbClr val="F5F5FF"/>
                </a:highlight>
                <a:latin typeface="Nunito Sans"/>
                <a:ea typeface="Nunito Sans"/>
                <a:cs typeface="Nunito Sans"/>
                <a:sym typeface="Nunito Sans"/>
              </a:rPr>
              <a:t>Specifications</a:t>
            </a:r>
            <a:endParaRPr b="0" i="0" sz="1500" u="none" cap="none" strike="noStrike">
              <a:solidFill>
                <a:srgbClr val="000000"/>
              </a:solidFill>
              <a:highlight>
                <a:srgbClr val="F5F5FF"/>
              </a:highlight>
              <a:latin typeface="Nunito Sans"/>
              <a:ea typeface="Nunito Sans"/>
              <a:cs typeface="Nunito Sans"/>
              <a:sym typeface="Nunito Sans"/>
            </a:endParaRPr>
          </a:p>
        </p:txBody>
      </p:sp>
      <p:sp>
        <p:nvSpPr>
          <p:cNvPr id="115" name="Google Shape;115;p7"/>
          <p:cNvSpPr txBox="1"/>
          <p:nvPr/>
        </p:nvSpPr>
        <p:spPr>
          <a:xfrm>
            <a:off x="572675" y="1816200"/>
            <a:ext cx="2340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SemiBold"/>
                <a:ea typeface="Nunito Sans SemiBold"/>
                <a:cs typeface="Nunito Sans SemiBold"/>
                <a:sym typeface="Nunito Sans SemiBold"/>
              </a:rPr>
              <a:t>Criteria types to consider:</a:t>
            </a:r>
            <a:endParaRPr b="0" i="0" sz="1200" u="none" cap="none" strike="noStrike">
              <a:solidFill>
                <a:schemeClr val="dk1"/>
              </a:solidFill>
              <a:latin typeface="Nunito Sans"/>
              <a:ea typeface="Nunito Sans"/>
              <a:cs typeface="Nunito Sans"/>
              <a:sym typeface="Nunito Sans"/>
            </a:endParaRPr>
          </a:p>
        </p:txBody>
      </p:sp>
      <p:sp>
        <p:nvSpPr>
          <p:cNvPr id="116" name="Google Shape;116;p7"/>
          <p:cNvSpPr txBox="1"/>
          <p:nvPr/>
        </p:nvSpPr>
        <p:spPr>
          <a:xfrm>
            <a:off x="1110481" y="2393933"/>
            <a:ext cx="2027700" cy="869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Appearance: </a:t>
            </a:r>
            <a:r>
              <a:rPr b="0" i="0" lang="en" sz="1000" u="none" cap="none" strike="noStrike">
                <a:solidFill>
                  <a:schemeClr val="dk1"/>
                </a:solidFill>
                <a:latin typeface="Nunito Sans"/>
                <a:ea typeface="Nunito Sans"/>
                <a:cs typeface="Nunito Sans"/>
                <a:sym typeface="Nunito Sans"/>
              </a:rPr>
              <a:t>What should the finished product look like? Style, colours, texture, theme, finish, shape, patterns…</a:t>
            </a:r>
            <a:endParaRPr b="0" i="0" sz="1000" u="none" cap="none" strike="noStrike">
              <a:solidFill>
                <a:schemeClr val="dk1"/>
              </a:solidFill>
              <a:latin typeface="Nunito Sans"/>
              <a:ea typeface="Nunito Sans"/>
              <a:cs typeface="Nunito Sans"/>
              <a:sym typeface="Nunito Sans"/>
            </a:endParaRPr>
          </a:p>
        </p:txBody>
      </p:sp>
      <p:sp>
        <p:nvSpPr>
          <p:cNvPr id="117" name="Google Shape;117;p7"/>
          <p:cNvSpPr txBox="1"/>
          <p:nvPr/>
        </p:nvSpPr>
        <p:spPr>
          <a:xfrm>
            <a:off x="1110481" y="3553533"/>
            <a:ext cx="1943700" cy="869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Budget: </a:t>
            </a:r>
            <a:r>
              <a:rPr b="0" i="0" lang="en" sz="1000" u="none" cap="none" strike="noStrike">
                <a:solidFill>
                  <a:schemeClr val="dk1"/>
                </a:solidFill>
                <a:latin typeface="Nunito Sans"/>
                <a:ea typeface="Nunito Sans"/>
                <a:cs typeface="Nunito Sans"/>
                <a:sym typeface="Nunito Sans"/>
              </a:rPr>
              <a:t>What will the cost be to make the product? How much will people think my product is worth? </a:t>
            </a:r>
            <a:endParaRPr b="0" i="0" sz="1000" u="none" cap="none" strike="noStrike">
              <a:solidFill>
                <a:schemeClr val="dk1"/>
              </a:solidFill>
              <a:latin typeface="Nunito Sans"/>
              <a:ea typeface="Nunito Sans"/>
              <a:cs typeface="Nunito Sans"/>
              <a:sym typeface="Nunito Sans"/>
            </a:endParaRPr>
          </a:p>
        </p:txBody>
      </p:sp>
      <p:sp>
        <p:nvSpPr>
          <p:cNvPr id="118" name="Google Shape;118;p7"/>
          <p:cNvSpPr txBox="1"/>
          <p:nvPr/>
        </p:nvSpPr>
        <p:spPr>
          <a:xfrm>
            <a:off x="1110481" y="4713133"/>
            <a:ext cx="20277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Client:</a:t>
            </a:r>
            <a:r>
              <a:rPr b="0" i="0" lang="en" sz="1000" u="none" cap="none" strike="noStrike">
                <a:solidFill>
                  <a:schemeClr val="dk1"/>
                </a:solidFill>
                <a:latin typeface="Nunito Sans"/>
                <a:ea typeface="Nunito Sans"/>
                <a:cs typeface="Nunito Sans"/>
                <a:sym typeface="Nunito Sans"/>
              </a:rPr>
              <a:t> How is the product tailored to the customer/client/ target audience?</a:t>
            </a:r>
            <a:endParaRPr b="0" i="0" sz="1000" u="none" cap="none" strike="noStrike">
              <a:solidFill>
                <a:schemeClr val="dk1"/>
              </a:solidFill>
              <a:latin typeface="Nunito Sans"/>
              <a:ea typeface="Nunito Sans"/>
              <a:cs typeface="Nunito Sans"/>
              <a:sym typeface="Nunito Sans"/>
            </a:endParaRPr>
          </a:p>
        </p:txBody>
      </p:sp>
      <p:grpSp>
        <p:nvGrpSpPr>
          <p:cNvPr id="119" name="Google Shape;119;p7"/>
          <p:cNvGrpSpPr/>
          <p:nvPr/>
        </p:nvGrpSpPr>
        <p:grpSpPr>
          <a:xfrm>
            <a:off x="3404525" y="2393873"/>
            <a:ext cx="2211476" cy="568888"/>
            <a:chOff x="3404525" y="1795450"/>
            <a:chExt cx="2211476" cy="426677"/>
          </a:xfrm>
        </p:grpSpPr>
        <p:pic>
          <p:nvPicPr>
            <p:cNvPr id="120" name="Google Shape;120;p7"/>
            <p:cNvPicPr preferRelativeResize="0"/>
            <p:nvPr/>
          </p:nvPicPr>
          <p:blipFill rotWithShape="1">
            <a:blip r:embed="rId8">
              <a:alphaModFix/>
            </a:blip>
            <a:srcRect b="0" l="0" r="0" t="0"/>
            <a:stretch/>
          </p:blipFill>
          <p:spPr>
            <a:xfrm>
              <a:off x="3404525" y="1920375"/>
              <a:ext cx="301752" cy="301752"/>
            </a:xfrm>
            <a:prstGeom prst="rect">
              <a:avLst/>
            </a:prstGeom>
            <a:noFill/>
            <a:ln>
              <a:noFill/>
            </a:ln>
          </p:spPr>
        </p:pic>
        <p:sp>
          <p:nvSpPr>
            <p:cNvPr id="121" name="Google Shape;121;p7"/>
            <p:cNvSpPr txBox="1"/>
            <p:nvPr/>
          </p:nvSpPr>
          <p:spPr>
            <a:xfrm>
              <a:off x="3832201" y="1795450"/>
              <a:ext cx="1783800" cy="386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Delivery: </a:t>
              </a:r>
              <a:r>
                <a:rPr b="0" i="0" lang="en" sz="1000" u="none" cap="none" strike="noStrike">
                  <a:solidFill>
                    <a:schemeClr val="dk1"/>
                  </a:solidFill>
                  <a:latin typeface="Nunito Sans"/>
                  <a:ea typeface="Nunito Sans"/>
                  <a:cs typeface="Nunito Sans"/>
                  <a:sym typeface="Nunito Sans"/>
                </a:rPr>
                <a:t>When will the product be complete?</a:t>
              </a:r>
              <a:endParaRPr b="0" i="0" sz="1000" u="none" cap="none" strike="noStrike">
                <a:solidFill>
                  <a:schemeClr val="dk1"/>
                </a:solidFill>
                <a:latin typeface="Nunito Sans SemiBold"/>
                <a:ea typeface="Nunito Sans SemiBold"/>
                <a:cs typeface="Nunito Sans SemiBold"/>
                <a:sym typeface="Nunito Sans SemiBold"/>
              </a:endParaRPr>
            </a:p>
          </p:txBody>
        </p:sp>
      </p:grpSp>
      <p:pic>
        <p:nvPicPr>
          <p:cNvPr id="122" name="Google Shape;122;p7"/>
          <p:cNvPicPr preferRelativeResize="0"/>
          <p:nvPr/>
        </p:nvPicPr>
        <p:blipFill rotWithShape="1">
          <a:blip r:embed="rId9">
            <a:alphaModFix/>
          </a:blip>
          <a:srcRect b="0" l="0" r="0" t="0"/>
          <a:stretch/>
        </p:blipFill>
        <p:spPr>
          <a:xfrm>
            <a:off x="3404513" y="3334000"/>
            <a:ext cx="301752" cy="301752"/>
          </a:xfrm>
          <a:prstGeom prst="rect">
            <a:avLst/>
          </a:prstGeom>
          <a:noFill/>
          <a:ln>
            <a:noFill/>
          </a:ln>
        </p:spPr>
      </p:pic>
      <p:sp>
        <p:nvSpPr>
          <p:cNvPr id="123" name="Google Shape;123;p7"/>
          <p:cNvSpPr txBox="1"/>
          <p:nvPr/>
        </p:nvSpPr>
        <p:spPr>
          <a:xfrm>
            <a:off x="3832206" y="3191384"/>
            <a:ext cx="1943700" cy="515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Environment: </a:t>
            </a:r>
            <a:r>
              <a:rPr b="0" i="0" lang="en" sz="1000" u="none" cap="none" strike="noStrike">
                <a:solidFill>
                  <a:schemeClr val="dk1"/>
                </a:solidFill>
                <a:latin typeface="Nunito Sans"/>
                <a:ea typeface="Nunito Sans"/>
                <a:cs typeface="Nunito Sans"/>
                <a:sym typeface="Nunito Sans"/>
              </a:rPr>
              <a:t>Where will the product be used/shown?</a:t>
            </a:r>
            <a:endParaRPr b="0" i="0" sz="1000" u="none" cap="none" strike="noStrike">
              <a:solidFill>
                <a:schemeClr val="dk1"/>
              </a:solidFill>
              <a:latin typeface="Nunito Sans SemiBold"/>
              <a:ea typeface="Nunito Sans SemiBold"/>
              <a:cs typeface="Nunito Sans SemiBold"/>
              <a:sym typeface="Nunito Sans SemiBold"/>
            </a:endParaRPr>
          </a:p>
        </p:txBody>
      </p:sp>
      <p:pic>
        <p:nvPicPr>
          <p:cNvPr id="124" name="Google Shape;124;p7"/>
          <p:cNvPicPr preferRelativeResize="0"/>
          <p:nvPr/>
        </p:nvPicPr>
        <p:blipFill rotWithShape="1">
          <a:blip r:embed="rId10">
            <a:alphaModFix/>
          </a:blip>
          <a:srcRect b="0" l="0" r="0" t="0"/>
          <a:stretch/>
        </p:blipFill>
        <p:spPr>
          <a:xfrm>
            <a:off x="3404525" y="4131467"/>
            <a:ext cx="301752" cy="301752"/>
          </a:xfrm>
          <a:prstGeom prst="rect">
            <a:avLst/>
          </a:prstGeom>
          <a:noFill/>
          <a:ln>
            <a:noFill/>
          </a:ln>
        </p:spPr>
      </p:pic>
      <p:sp>
        <p:nvSpPr>
          <p:cNvPr id="125" name="Google Shape;125;p7"/>
          <p:cNvSpPr txBox="1"/>
          <p:nvPr/>
        </p:nvSpPr>
        <p:spPr>
          <a:xfrm>
            <a:off x="3832201" y="3988817"/>
            <a:ext cx="1783800" cy="515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Function:</a:t>
            </a:r>
            <a:r>
              <a:rPr b="0" i="0" lang="en" sz="1000" u="none" cap="none" strike="noStrike">
                <a:solidFill>
                  <a:schemeClr val="dk1"/>
                </a:solidFill>
                <a:latin typeface="Nunito Sans"/>
                <a:ea typeface="Nunito Sans"/>
                <a:cs typeface="Nunito Sans"/>
                <a:sym typeface="Nunito Sans"/>
              </a:rPr>
              <a:t> What will the product do?</a:t>
            </a:r>
            <a:endParaRPr b="0" i="0" sz="1000" u="none" cap="none" strike="noStrike">
              <a:solidFill>
                <a:schemeClr val="dk1"/>
              </a:solidFill>
              <a:latin typeface="Nunito Sans SemiBold"/>
              <a:ea typeface="Nunito Sans SemiBold"/>
              <a:cs typeface="Nunito Sans SemiBold"/>
              <a:sym typeface="Nunito Sans SemiBold"/>
            </a:endParaRPr>
          </a:p>
        </p:txBody>
      </p:sp>
      <p:grpSp>
        <p:nvGrpSpPr>
          <p:cNvPr id="126" name="Google Shape;126;p7"/>
          <p:cNvGrpSpPr/>
          <p:nvPr/>
        </p:nvGrpSpPr>
        <p:grpSpPr>
          <a:xfrm>
            <a:off x="3402751" y="4716655"/>
            <a:ext cx="2213250" cy="692783"/>
            <a:chOff x="3402751" y="3362650"/>
            <a:chExt cx="2213250" cy="519600"/>
          </a:xfrm>
        </p:grpSpPr>
        <p:pic>
          <p:nvPicPr>
            <p:cNvPr id="127" name="Google Shape;127;p7"/>
            <p:cNvPicPr preferRelativeResize="0"/>
            <p:nvPr/>
          </p:nvPicPr>
          <p:blipFill rotWithShape="1">
            <a:blip r:embed="rId11">
              <a:alphaModFix/>
            </a:blip>
            <a:srcRect b="0" l="0" r="0" t="0"/>
            <a:stretch/>
          </p:blipFill>
          <p:spPr>
            <a:xfrm>
              <a:off x="3402751" y="3472888"/>
              <a:ext cx="301752" cy="301752"/>
            </a:xfrm>
            <a:prstGeom prst="rect">
              <a:avLst/>
            </a:prstGeom>
            <a:noFill/>
            <a:ln>
              <a:noFill/>
            </a:ln>
          </p:spPr>
        </p:pic>
        <p:sp>
          <p:nvSpPr>
            <p:cNvPr id="128" name="Google Shape;128;p7"/>
            <p:cNvSpPr txBox="1"/>
            <p:nvPr/>
          </p:nvSpPr>
          <p:spPr>
            <a:xfrm>
              <a:off x="3832201" y="3362650"/>
              <a:ext cx="1783800" cy="519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Resources:</a:t>
              </a:r>
              <a:r>
                <a:rPr b="0" i="0" lang="en" sz="1000" u="none" cap="none" strike="noStrike">
                  <a:solidFill>
                    <a:schemeClr val="dk1"/>
                  </a:solidFill>
                  <a:latin typeface="Nunito Sans"/>
                  <a:ea typeface="Nunito Sans"/>
                  <a:cs typeface="Nunito Sans"/>
                  <a:sym typeface="Nunito Sans"/>
                </a:rPr>
                <a:t> What tools, materials and people do I need to make the product? </a:t>
              </a:r>
              <a:endParaRPr b="0" i="0" sz="1000" u="none" cap="none" strike="noStrike">
                <a:solidFill>
                  <a:schemeClr val="dk1"/>
                </a:solidFill>
                <a:latin typeface="Nunito Sans SemiBold"/>
                <a:ea typeface="Nunito Sans SemiBold"/>
                <a:cs typeface="Nunito Sans SemiBold"/>
                <a:sym typeface="Nunito Sans SemiBold"/>
              </a:endParaRPr>
            </a:p>
          </p:txBody>
        </p:sp>
      </p:grpSp>
      <p:sp>
        <p:nvSpPr>
          <p:cNvPr id="129" name="Google Shape;129;p7"/>
          <p:cNvSpPr txBox="1"/>
          <p:nvPr/>
        </p:nvSpPr>
        <p:spPr>
          <a:xfrm>
            <a:off x="6557476" y="2393933"/>
            <a:ext cx="1837800" cy="869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Safety:</a:t>
            </a:r>
            <a:r>
              <a:rPr b="0" i="0" lang="en" sz="1000" u="none" cap="none" strike="noStrike">
                <a:solidFill>
                  <a:schemeClr val="dk1"/>
                </a:solidFill>
                <a:latin typeface="Nunito Sans"/>
                <a:ea typeface="Nunito Sans"/>
                <a:cs typeface="Nunito Sans"/>
                <a:sym typeface="Nunito Sans"/>
              </a:rPr>
              <a:t> How will I be safe when making my product? How will others be safe when using my product?</a:t>
            </a:r>
            <a:endParaRPr b="0" i="0" sz="1000" u="none" cap="none" strike="noStrike">
              <a:solidFill>
                <a:schemeClr val="dk1"/>
              </a:solidFill>
              <a:latin typeface="Nunito Sans SemiBold"/>
              <a:ea typeface="Nunito Sans SemiBold"/>
              <a:cs typeface="Nunito Sans SemiBold"/>
              <a:sym typeface="Nunito Sans SemiBold"/>
            </a:endParaRPr>
          </a:p>
        </p:txBody>
      </p:sp>
      <p:sp>
        <p:nvSpPr>
          <p:cNvPr id="130" name="Google Shape;130;p7"/>
          <p:cNvSpPr txBox="1"/>
          <p:nvPr/>
        </p:nvSpPr>
        <p:spPr>
          <a:xfrm>
            <a:off x="6557475" y="3553533"/>
            <a:ext cx="1910700" cy="869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emiBold"/>
                <a:ea typeface="Nunito SemiBold"/>
                <a:cs typeface="Nunito SemiBold"/>
                <a:sym typeface="Nunito SemiBold"/>
              </a:rPr>
              <a:t>Size:</a:t>
            </a:r>
            <a:r>
              <a:rPr b="0" i="0" lang="en" sz="1000" u="none" cap="none" strike="noStrike">
                <a:solidFill>
                  <a:schemeClr val="dk1"/>
                </a:solidFill>
                <a:latin typeface="Nunito Sans"/>
                <a:ea typeface="Nunito Sans"/>
                <a:cs typeface="Nunito Sans"/>
                <a:sym typeface="Nunito Sans"/>
              </a:rPr>
              <a:t> What size will my product be? </a:t>
            </a:r>
            <a:r>
              <a:rPr b="0" i="1" lang="en" sz="1000" u="none" cap="none" strike="noStrike">
                <a:solidFill>
                  <a:schemeClr val="dk1"/>
                </a:solidFill>
                <a:latin typeface="Nunito Sans"/>
                <a:ea typeface="Nunito Sans"/>
                <a:cs typeface="Nunito Sans"/>
                <a:sym typeface="Nunito Sans"/>
              </a:rPr>
              <a:t>For some products, like a video or a song, size might refer to time</a:t>
            </a:r>
            <a:r>
              <a:rPr b="0" i="0" lang="en" sz="1000" u="none" cap="none" strike="noStrike">
                <a:solidFill>
                  <a:schemeClr val="dk1"/>
                </a:solidFill>
                <a:latin typeface="Nunito Sans"/>
                <a:ea typeface="Nunito Sans"/>
                <a:cs typeface="Nunito Sans"/>
                <a:sym typeface="Nunito Sans"/>
              </a:rPr>
              <a:t>.</a:t>
            </a:r>
            <a:endParaRPr b="0" i="0" sz="1000" u="none" cap="none" strike="noStrike">
              <a:solidFill>
                <a:schemeClr val="dk1"/>
              </a:solidFill>
              <a:latin typeface="Nunito Sans SemiBold"/>
              <a:ea typeface="Nunito Sans SemiBold"/>
              <a:cs typeface="Nunito Sans SemiBold"/>
              <a:sym typeface="Nunito Sans SemiBold"/>
            </a:endParaRPr>
          </a:p>
        </p:txBody>
      </p:sp>
      <p:sp>
        <p:nvSpPr>
          <p:cNvPr id="131" name="Google Shape;131;p7"/>
          <p:cNvSpPr txBox="1"/>
          <p:nvPr/>
        </p:nvSpPr>
        <p:spPr>
          <a:xfrm>
            <a:off x="572675" y="6163100"/>
            <a:ext cx="73341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chemeClr val="dk2"/>
                </a:solidFill>
                <a:latin typeface="Nunito Sans"/>
                <a:ea typeface="Nunito Sans"/>
                <a:cs typeface="Nunito Sans"/>
                <a:sym typeface="Nunito Sans"/>
              </a:rPr>
              <a:t>Continued on next page...</a:t>
            </a:r>
            <a:endParaRPr b="0" i="1" sz="1000" u="none" cap="none" strike="noStrike">
              <a:solidFill>
                <a:schemeClr val="dk2"/>
              </a:solidFill>
              <a:latin typeface="Nunito Sans"/>
              <a:ea typeface="Nunito Sans"/>
              <a:cs typeface="Nunito Sans"/>
              <a:sym typeface="Nunito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graphicFrame>
        <p:nvGraphicFramePr>
          <p:cNvPr id="136" name="Google Shape;136;p8"/>
          <p:cNvGraphicFramePr/>
          <p:nvPr/>
        </p:nvGraphicFramePr>
        <p:xfrm>
          <a:off x="683563" y="705151"/>
          <a:ext cx="3000000" cy="3000000"/>
        </p:xfrm>
        <a:graphic>
          <a:graphicData uri="http://schemas.openxmlformats.org/drawingml/2006/table">
            <a:tbl>
              <a:tblPr>
                <a:noFill/>
                <a:tableStyleId>{45941D38-FAF8-4977-8D50-FB8890D63691}</a:tableStyleId>
              </a:tblPr>
              <a:tblGrid>
                <a:gridCol w="1161125"/>
                <a:gridCol w="1934625"/>
                <a:gridCol w="2538900"/>
                <a:gridCol w="2142225"/>
              </a:tblGrid>
              <a:tr h="469675">
                <a:tc gridSpan="4">
                  <a:txBody>
                    <a:bodyPr/>
                    <a:lstStyle/>
                    <a:p>
                      <a:pPr indent="0" lvl="0" marL="0" marR="0" rtl="0" algn="l">
                        <a:lnSpc>
                          <a:spcPct val="115000"/>
                        </a:lnSpc>
                        <a:spcBef>
                          <a:spcPts val="0"/>
                        </a:spcBef>
                        <a:spcAft>
                          <a:spcPts val="0"/>
                        </a:spcAft>
                        <a:buClr>
                          <a:srgbClr val="000000"/>
                        </a:buClr>
                        <a:buSzPts val="1500"/>
                        <a:buFont typeface="Arial"/>
                        <a:buNone/>
                      </a:pPr>
                      <a:r>
                        <a:rPr b="1" lang="en" sz="1500" u="none" cap="none" strike="noStrike">
                          <a:latin typeface="Nunito Sans"/>
                          <a:ea typeface="Nunito Sans"/>
                          <a:cs typeface="Nunito Sans"/>
                          <a:sym typeface="Nunito Sans"/>
                        </a:rPr>
                        <a:t>Success criteria for: </a:t>
                      </a:r>
                      <a:endParaRPr b="1" sz="15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hMerge="1"/>
                <a:tc hMerge="1"/>
                <a:tc hMerge="1"/>
              </a:tr>
              <a:tr h="394200">
                <a:tc gridSpan="4">
                  <a:txBody>
                    <a:bodyPr/>
                    <a:lstStyle/>
                    <a:p>
                      <a:pPr indent="0" lvl="0" marL="0" marR="0" rtl="0" algn="l">
                        <a:lnSpc>
                          <a:spcPct val="115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Success criteria ABCs</a:t>
                      </a:r>
                      <a:endParaRPr sz="15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hMerge="1"/>
                <a:tc hMerge="1"/>
                <a:tc hMerge="1"/>
              </a:tr>
              <a:tr h="419375">
                <a:tc rowSpan="2">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Type</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My product will:</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Because:</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The proof will be:</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r>
              <a:tr h="570375">
                <a:tc vMerge="1"/>
                <a:tc>
                  <a:txBody>
                    <a:bodyPr/>
                    <a:lstStyle/>
                    <a:p>
                      <a:pPr indent="0" lvl="0" marL="0" marR="0" rtl="0" algn="l">
                        <a:lnSpc>
                          <a:spcPct val="115000"/>
                        </a:lnSpc>
                        <a:spcBef>
                          <a:spcPts val="0"/>
                        </a:spcBef>
                        <a:spcAft>
                          <a:spcPts val="0"/>
                        </a:spcAft>
                        <a:buClr>
                          <a:srgbClr val="000000"/>
                        </a:buClr>
                        <a:buSzPts val="1300"/>
                        <a:buFont typeface="Arial"/>
                        <a:buNone/>
                      </a:pPr>
                      <a:r>
                        <a:rPr i="1" lang="en" sz="1300" u="none" cap="none" strike="noStrike">
                          <a:latin typeface="Nunito Sans"/>
                          <a:ea typeface="Nunito Sans"/>
                          <a:cs typeface="Nunito Sans"/>
                          <a:sym typeface="Nunito Sans"/>
                        </a:rPr>
                        <a:t>Specific description</a:t>
                      </a:r>
                      <a:endParaRPr i="1"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i="1" lang="en" sz="1300" u="none" cap="none" strike="noStrike">
                          <a:latin typeface="Nunito Sans"/>
                          <a:ea typeface="Nunito Sans"/>
                          <a:cs typeface="Nunito Sans"/>
                          <a:sym typeface="Nunito Sans"/>
                        </a:rPr>
                        <a:t>Reasons should be based on initial research</a:t>
                      </a:r>
                      <a:endParaRPr i="1"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i="1" lang="en" sz="1300" u="none" cap="none" strike="noStrike">
                          <a:latin typeface="Nunito Sans"/>
                          <a:ea typeface="Nunito Sans"/>
                          <a:cs typeface="Nunito Sans"/>
                          <a:sym typeface="Nunito Sans"/>
                        </a:rPr>
                        <a:t>The way you will test the product to prove its success</a:t>
                      </a:r>
                      <a:endParaRPr i="1"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r>
              <a:tr h="522700">
                <a:tc>
                  <a:txBody>
                    <a:bodyPr/>
                    <a:lstStyle/>
                    <a:p>
                      <a:pPr indent="0" lvl="0" marL="0" marR="0" rtl="0" algn="l">
                        <a:lnSpc>
                          <a:spcPct val="115000"/>
                        </a:lnSpc>
                        <a:spcBef>
                          <a:spcPts val="0"/>
                        </a:spcBef>
                        <a:spcAft>
                          <a:spcPts val="0"/>
                        </a:spcAft>
                        <a:buClr>
                          <a:srgbClr val="000000"/>
                        </a:buClr>
                        <a:buSzPts val="1300"/>
                        <a:buFont typeface="Arial"/>
                        <a:buNone/>
                      </a:pPr>
                      <a:r>
                        <a:rPr b="1" lang="en" sz="1300" u="none" cap="none" strike="noStrike">
                          <a:latin typeface="Nunito Sans"/>
                          <a:ea typeface="Nunito Sans"/>
                          <a:cs typeface="Nunito Sans"/>
                          <a:sym typeface="Nunito Sans"/>
                        </a:rPr>
                        <a:t>A</a:t>
                      </a:r>
                      <a:r>
                        <a:rPr lang="en" sz="1300" u="none" cap="none" strike="noStrike">
                          <a:latin typeface="Nunito Sans"/>
                          <a:ea typeface="Nunito Sans"/>
                          <a:cs typeface="Nunito Sans"/>
                          <a:sym typeface="Nunito Sans"/>
                        </a:rPr>
                        <a:t>ppearance</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522700">
                <a:tc>
                  <a:txBody>
                    <a:bodyPr/>
                    <a:lstStyle/>
                    <a:p>
                      <a:pPr indent="0" lvl="0" marL="0" marR="0" rtl="0" algn="l">
                        <a:lnSpc>
                          <a:spcPct val="115000"/>
                        </a:lnSpc>
                        <a:spcBef>
                          <a:spcPts val="0"/>
                        </a:spcBef>
                        <a:spcAft>
                          <a:spcPts val="0"/>
                        </a:spcAft>
                        <a:buClr>
                          <a:srgbClr val="000000"/>
                        </a:buClr>
                        <a:buSzPts val="1300"/>
                        <a:buFont typeface="Arial"/>
                        <a:buNone/>
                      </a:pPr>
                      <a:r>
                        <a:rPr b="1" lang="en" sz="1300" u="none" cap="none" strike="noStrike">
                          <a:latin typeface="Nunito Sans"/>
                          <a:ea typeface="Nunito Sans"/>
                          <a:cs typeface="Nunito Sans"/>
                          <a:sym typeface="Nunito Sans"/>
                        </a:rPr>
                        <a:t>B</a:t>
                      </a:r>
                      <a:r>
                        <a:rPr lang="en" sz="1300" u="none" cap="none" strike="noStrike">
                          <a:latin typeface="Nunito Sans"/>
                          <a:ea typeface="Nunito Sans"/>
                          <a:cs typeface="Nunito Sans"/>
                          <a:sym typeface="Nunito Sans"/>
                        </a:rPr>
                        <a:t>udget</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522700">
                <a:tc>
                  <a:txBody>
                    <a:bodyPr/>
                    <a:lstStyle/>
                    <a:p>
                      <a:pPr indent="0" lvl="0" marL="0" marR="0" rtl="0" algn="l">
                        <a:lnSpc>
                          <a:spcPct val="115000"/>
                        </a:lnSpc>
                        <a:spcBef>
                          <a:spcPts val="0"/>
                        </a:spcBef>
                        <a:spcAft>
                          <a:spcPts val="0"/>
                        </a:spcAft>
                        <a:buClr>
                          <a:srgbClr val="000000"/>
                        </a:buClr>
                        <a:buSzPts val="1300"/>
                        <a:buFont typeface="Arial"/>
                        <a:buNone/>
                      </a:pPr>
                      <a:r>
                        <a:rPr b="1" lang="en" sz="1300" u="none" cap="none" strike="noStrike">
                          <a:latin typeface="Nunito Sans"/>
                          <a:ea typeface="Nunito Sans"/>
                          <a:cs typeface="Nunito Sans"/>
                          <a:sym typeface="Nunito Sans"/>
                        </a:rPr>
                        <a:t>C</a:t>
                      </a:r>
                      <a:r>
                        <a:rPr lang="en" sz="1300" u="none" cap="none" strike="noStrike">
                          <a:latin typeface="Nunito Sans"/>
                          <a:ea typeface="Nunito Sans"/>
                          <a:cs typeface="Nunito Sans"/>
                          <a:sym typeface="Nunito Sans"/>
                        </a:rPr>
                        <a:t>lient</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522700">
                <a:tc>
                  <a:txBody>
                    <a:bodyPr/>
                    <a:lstStyle/>
                    <a:p>
                      <a:pPr indent="0" lvl="0" marL="0" marR="0" rtl="0" algn="l">
                        <a:lnSpc>
                          <a:spcPct val="115000"/>
                        </a:lnSpc>
                        <a:spcBef>
                          <a:spcPts val="0"/>
                        </a:spcBef>
                        <a:spcAft>
                          <a:spcPts val="0"/>
                        </a:spcAft>
                        <a:buClr>
                          <a:srgbClr val="000000"/>
                        </a:buClr>
                        <a:buSzPts val="1300"/>
                        <a:buFont typeface="Arial"/>
                        <a:buNone/>
                      </a:pPr>
                      <a:r>
                        <a:rPr b="1" lang="en" sz="1300" u="none" cap="none" strike="noStrike">
                          <a:latin typeface="Nunito Sans"/>
                          <a:ea typeface="Nunito Sans"/>
                          <a:cs typeface="Nunito Sans"/>
                          <a:sym typeface="Nunito Sans"/>
                        </a:rPr>
                        <a:t>D</a:t>
                      </a:r>
                      <a:r>
                        <a:rPr lang="en" sz="1300" u="none" cap="none" strike="noStrike">
                          <a:latin typeface="Nunito Sans"/>
                          <a:ea typeface="Nunito Sans"/>
                          <a:cs typeface="Nunito Sans"/>
                          <a:sym typeface="Nunito Sans"/>
                        </a:rPr>
                        <a:t>elivery</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522700">
                <a:tc>
                  <a:txBody>
                    <a:bodyPr/>
                    <a:lstStyle/>
                    <a:p>
                      <a:pPr indent="0" lvl="0" marL="0" marR="0" rtl="0" algn="l">
                        <a:lnSpc>
                          <a:spcPct val="115000"/>
                        </a:lnSpc>
                        <a:spcBef>
                          <a:spcPts val="0"/>
                        </a:spcBef>
                        <a:spcAft>
                          <a:spcPts val="0"/>
                        </a:spcAft>
                        <a:buClr>
                          <a:srgbClr val="000000"/>
                        </a:buClr>
                        <a:buSzPts val="1300"/>
                        <a:buFont typeface="Arial"/>
                        <a:buNone/>
                      </a:pPr>
                      <a:r>
                        <a:rPr b="1" lang="en" sz="1300" u="none" cap="none" strike="noStrike">
                          <a:latin typeface="Nunito Sans"/>
                          <a:ea typeface="Nunito Sans"/>
                          <a:cs typeface="Nunito Sans"/>
                          <a:sym typeface="Nunito Sans"/>
                        </a:rPr>
                        <a:t>E</a:t>
                      </a:r>
                      <a:r>
                        <a:rPr lang="en" sz="1300" u="none" cap="none" strike="noStrike">
                          <a:latin typeface="Nunito Sans"/>
                          <a:ea typeface="Nunito Sans"/>
                          <a:cs typeface="Nunito Sans"/>
                          <a:sym typeface="Nunito Sans"/>
                        </a:rPr>
                        <a:t>nvironment</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522700">
                <a:tc>
                  <a:txBody>
                    <a:bodyPr/>
                    <a:lstStyle/>
                    <a:p>
                      <a:pPr indent="0" lvl="0" marL="0" marR="0" rtl="0" algn="l">
                        <a:lnSpc>
                          <a:spcPct val="115000"/>
                        </a:lnSpc>
                        <a:spcBef>
                          <a:spcPts val="0"/>
                        </a:spcBef>
                        <a:spcAft>
                          <a:spcPts val="0"/>
                        </a:spcAft>
                        <a:buClr>
                          <a:srgbClr val="000000"/>
                        </a:buClr>
                        <a:buSzPts val="1300"/>
                        <a:buFont typeface="Arial"/>
                        <a:buNone/>
                      </a:pPr>
                      <a:r>
                        <a:rPr b="1" lang="en" sz="1300" u="none" cap="none" strike="noStrike">
                          <a:latin typeface="Nunito Sans"/>
                          <a:ea typeface="Nunito Sans"/>
                          <a:cs typeface="Nunito Sans"/>
                          <a:sym typeface="Nunito Sans"/>
                        </a:rPr>
                        <a:t>F</a:t>
                      </a:r>
                      <a:r>
                        <a:rPr lang="en" sz="1300" u="none" cap="none" strike="noStrike">
                          <a:latin typeface="Nunito Sans"/>
                          <a:ea typeface="Nunito Sans"/>
                          <a:cs typeface="Nunito Sans"/>
                          <a:sym typeface="Nunito Sans"/>
                        </a:rPr>
                        <a:t>unction</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9"/>
          <p:cNvSpPr txBox="1"/>
          <p:nvPr/>
        </p:nvSpPr>
        <p:spPr>
          <a:xfrm>
            <a:off x="572675" y="1017367"/>
            <a:ext cx="5151300" cy="58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Design your specifications in as much detail as possible. You can include the evidence that supports your evaluation of success at the end. </a:t>
            </a:r>
            <a:endParaRPr b="0" i="0" sz="1200" u="none" cap="none" strike="noStrike">
              <a:solidFill>
                <a:srgbClr val="000000"/>
              </a:solidFill>
              <a:latin typeface="Nunito Sans"/>
              <a:ea typeface="Nunito Sans"/>
              <a:cs typeface="Nunito Sans"/>
              <a:sym typeface="Nunito Sans"/>
            </a:endParaRPr>
          </a:p>
        </p:txBody>
      </p:sp>
      <p:sp>
        <p:nvSpPr>
          <p:cNvPr id="142" name="Google Shape;142;p9"/>
          <p:cNvSpPr txBox="1"/>
          <p:nvPr/>
        </p:nvSpPr>
        <p:spPr>
          <a:xfrm>
            <a:off x="572675" y="546833"/>
            <a:ext cx="3000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500"/>
              <a:buFont typeface="Arial"/>
              <a:buNone/>
            </a:pPr>
            <a:r>
              <a:rPr b="1" i="0" lang="en" sz="1500" u="none" cap="none" strike="noStrike">
                <a:solidFill>
                  <a:schemeClr val="dk1"/>
                </a:solidFill>
                <a:highlight>
                  <a:srgbClr val="F5F5FF"/>
                </a:highlight>
                <a:latin typeface="Nunito Sans"/>
                <a:ea typeface="Nunito Sans"/>
                <a:cs typeface="Nunito Sans"/>
                <a:sym typeface="Nunito Sans"/>
              </a:rPr>
              <a:t>Specifications</a:t>
            </a:r>
            <a:endParaRPr b="0" i="0" sz="1500" u="none" cap="none" strike="noStrike">
              <a:solidFill>
                <a:srgbClr val="000000"/>
              </a:solidFill>
              <a:highlight>
                <a:srgbClr val="F5F5FF"/>
              </a:highlight>
              <a:latin typeface="Nunito Sans"/>
              <a:ea typeface="Nunito Sans"/>
              <a:cs typeface="Nunito Sans"/>
              <a:sym typeface="Nunito Sans"/>
            </a:endParaRPr>
          </a:p>
        </p:txBody>
      </p:sp>
      <p:sp>
        <p:nvSpPr>
          <p:cNvPr id="143" name="Google Shape;143;p9"/>
          <p:cNvSpPr txBox="1"/>
          <p:nvPr/>
        </p:nvSpPr>
        <p:spPr>
          <a:xfrm>
            <a:off x="572675" y="6163100"/>
            <a:ext cx="73341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chemeClr val="dk2"/>
                </a:solidFill>
                <a:latin typeface="Nunito Sans"/>
                <a:ea typeface="Nunito Sans"/>
                <a:cs typeface="Nunito Sans"/>
                <a:sym typeface="Nunito Sans"/>
              </a:rPr>
              <a:t>Continued on next page...</a:t>
            </a:r>
            <a:endParaRPr b="0" i="1" sz="1000" u="none" cap="none" strike="noStrike">
              <a:solidFill>
                <a:schemeClr val="dk2"/>
              </a:solidFill>
              <a:latin typeface="Nunito Sans"/>
              <a:ea typeface="Nunito Sans"/>
              <a:cs typeface="Nunito Sans"/>
              <a:sym typeface="Nunito Sans"/>
            </a:endParaRPr>
          </a:p>
        </p:txBody>
      </p:sp>
      <p:sp>
        <p:nvSpPr>
          <p:cNvPr id="144" name="Google Shape;144;p9"/>
          <p:cNvSpPr/>
          <p:nvPr/>
        </p:nvSpPr>
        <p:spPr>
          <a:xfrm rot="-4047982">
            <a:off x="6331159" y="4396892"/>
            <a:ext cx="4354874" cy="3675898"/>
          </a:xfrm>
          <a:prstGeom prst="blockArc">
            <a:avLst>
              <a:gd fmla="val 13053598" name="adj1"/>
              <a:gd fmla="val 201913" name="adj2"/>
              <a:gd fmla="val 15520" name="adj3"/>
            </a:avLst>
          </a:prstGeom>
          <a:solidFill>
            <a:srgbClr val="F5F5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9"/>
          <p:cNvSpPr txBox="1"/>
          <p:nvPr/>
        </p:nvSpPr>
        <p:spPr>
          <a:xfrm>
            <a:off x="604050" y="1812667"/>
            <a:ext cx="2340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SemiBold"/>
                <a:ea typeface="Nunito Sans SemiBold"/>
                <a:cs typeface="Nunito Sans SemiBold"/>
                <a:sym typeface="Nunito Sans SemiBold"/>
              </a:rPr>
              <a:t>Criteria types to consider:</a:t>
            </a:r>
            <a:endParaRPr b="0" i="0" sz="1200" u="none" cap="none" strike="noStrike">
              <a:solidFill>
                <a:schemeClr val="dk1"/>
              </a:solidFill>
              <a:latin typeface="Nunito Sans"/>
              <a:ea typeface="Nunito Sans"/>
              <a:cs typeface="Nunito Sans"/>
              <a:sym typeface="Nunito Sans"/>
            </a:endParaRPr>
          </a:p>
        </p:txBody>
      </p:sp>
      <p:pic>
        <p:nvPicPr>
          <p:cNvPr id="146" name="Google Shape;146;p9"/>
          <p:cNvPicPr preferRelativeResize="0"/>
          <p:nvPr/>
        </p:nvPicPr>
        <p:blipFill rotWithShape="1">
          <a:blip r:embed="rId3">
            <a:alphaModFix/>
          </a:blip>
          <a:srcRect b="0" l="0" r="0" t="0"/>
          <a:stretch/>
        </p:blipFill>
        <p:spPr>
          <a:xfrm>
            <a:off x="678238" y="2556917"/>
            <a:ext cx="301752" cy="301752"/>
          </a:xfrm>
          <a:prstGeom prst="rect">
            <a:avLst/>
          </a:prstGeom>
          <a:noFill/>
          <a:ln>
            <a:noFill/>
          </a:ln>
        </p:spPr>
      </p:pic>
      <p:sp>
        <p:nvSpPr>
          <p:cNvPr id="147" name="Google Shape;147;p9"/>
          <p:cNvSpPr txBox="1"/>
          <p:nvPr/>
        </p:nvSpPr>
        <p:spPr>
          <a:xfrm>
            <a:off x="1110481" y="2390400"/>
            <a:ext cx="2027700" cy="869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Appearance: </a:t>
            </a:r>
            <a:r>
              <a:rPr b="0" i="0" lang="en" sz="1000" u="none" cap="none" strike="noStrike">
                <a:solidFill>
                  <a:schemeClr val="dk1"/>
                </a:solidFill>
                <a:latin typeface="Nunito Sans"/>
                <a:ea typeface="Nunito Sans"/>
                <a:cs typeface="Nunito Sans"/>
                <a:sym typeface="Nunito Sans"/>
              </a:rPr>
              <a:t>What should the finished product look like? Style, colours, texture, theme, finish, shape, patterns…</a:t>
            </a:r>
            <a:endParaRPr b="0" i="0" sz="1000" u="none" cap="none" strike="noStrike">
              <a:solidFill>
                <a:schemeClr val="dk1"/>
              </a:solidFill>
              <a:latin typeface="Nunito Sans SemiBold"/>
              <a:ea typeface="Nunito Sans SemiBold"/>
              <a:cs typeface="Nunito Sans SemiBold"/>
              <a:sym typeface="Nunito Sans SemiBold"/>
            </a:endParaRPr>
          </a:p>
        </p:txBody>
      </p:sp>
      <p:grpSp>
        <p:nvGrpSpPr>
          <p:cNvPr id="148" name="Google Shape;148;p9"/>
          <p:cNvGrpSpPr/>
          <p:nvPr/>
        </p:nvGrpSpPr>
        <p:grpSpPr>
          <a:xfrm>
            <a:off x="678251" y="3549912"/>
            <a:ext cx="2375930" cy="869578"/>
            <a:chOff x="678251" y="2652250"/>
            <a:chExt cx="2375930" cy="652200"/>
          </a:xfrm>
        </p:grpSpPr>
        <p:pic>
          <p:nvPicPr>
            <p:cNvPr id="149" name="Google Shape;149;p9"/>
            <p:cNvPicPr preferRelativeResize="0"/>
            <p:nvPr/>
          </p:nvPicPr>
          <p:blipFill rotWithShape="1">
            <a:blip r:embed="rId4">
              <a:alphaModFix/>
            </a:blip>
            <a:srcRect b="0" l="0" r="0" t="0"/>
            <a:stretch/>
          </p:blipFill>
          <p:spPr>
            <a:xfrm>
              <a:off x="678251" y="2771163"/>
              <a:ext cx="301752" cy="301752"/>
            </a:xfrm>
            <a:prstGeom prst="rect">
              <a:avLst/>
            </a:prstGeom>
            <a:noFill/>
            <a:ln>
              <a:noFill/>
            </a:ln>
          </p:spPr>
        </p:pic>
        <p:sp>
          <p:nvSpPr>
            <p:cNvPr id="150" name="Google Shape;150;p9"/>
            <p:cNvSpPr txBox="1"/>
            <p:nvPr/>
          </p:nvSpPr>
          <p:spPr>
            <a:xfrm>
              <a:off x="1110481" y="2652250"/>
              <a:ext cx="1943700" cy="652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emiBold"/>
                  <a:ea typeface="Nunito SemiBold"/>
                  <a:cs typeface="Nunito SemiBold"/>
                  <a:sym typeface="Nunito SemiBold"/>
                </a:rPr>
                <a:t>Budget:</a:t>
              </a:r>
              <a:r>
                <a:rPr b="0" i="0" lang="en" sz="1000" u="none" cap="none" strike="noStrike">
                  <a:solidFill>
                    <a:schemeClr val="dk1"/>
                  </a:solidFill>
                  <a:latin typeface="Nunito Sans"/>
                  <a:ea typeface="Nunito Sans"/>
                  <a:cs typeface="Nunito Sans"/>
                  <a:sym typeface="Nunito Sans"/>
                </a:rPr>
                <a:t> What will the cost be to make the product? How much will people think my product is worth? </a:t>
              </a:r>
              <a:endParaRPr b="0" i="0" sz="1000" u="none" cap="none" strike="noStrike">
                <a:solidFill>
                  <a:schemeClr val="dk1"/>
                </a:solidFill>
                <a:latin typeface="Nunito Sans SemiBold"/>
                <a:ea typeface="Nunito Sans SemiBold"/>
                <a:cs typeface="Nunito Sans SemiBold"/>
                <a:sym typeface="Nunito Sans SemiBold"/>
              </a:endParaRPr>
            </a:p>
          </p:txBody>
        </p:sp>
      </p:grpSp>
      <p:pic>
        <p:nvPicPr>
          <p:cNvPr id="151" name="Google Shape;151;p9"/>
          <p:cNvPicPr preferRelativeResize="0"/>
          <p:nvPr/>
        </p:nvPicPr>
        <p:blipFill rotWithShape="1">
          <a:blip r:embed="rId5">
            <a:alphaModFix/>
          </a:blip>
          <a:srcRect b="0" l="0" r="0" t="0"/>
          <a:stretch/>
        </p:blipFill>
        <p:spPr>
          <a:xfrm>
            <a:off x="681763" y="4890467"/>
            <a:ext cx="301752" cy="301752"/>
          </a:xfrm>
          <a:prstGeom prst="rect">
            <a:avLst/>
          </a:prstGeom>
          <a:noFill/>
          <a:ln>
            <a:noFill/>
          </a:ln>
        </p:spPr>
      </p:pic>
      <p:sp>
        <p:nvSpPr>
          <p:cNvPr id="152" name="Google Shape;152;p9"/>
          <p:cNvSpPr txBox="1"/>
          <p:nvPr/>
        </p:nvSpPr>
        <p:spPr>
          <a:xfrm>
            <a:off x="1110481" y="4709600"/>
            <a:ext cx="20277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Client:</a:t>
            </a:r>
            <a:r>
              <a:rPr b="0" i="0" lang="en" sz="1000" u="none" cap="none" strike="noStrike">
                <a:solidFill>
                  <a:schemeClr val="dk1"/>
                </a:solidFill>
                <a:latin typeface="Nunito Sans"/>
                <a:ea typeface="Nunito Sans"/>
                <a:cs typeface="Nunito Sans"/>
                <a:sym typeface="Nunito Sans"/>
              </a:rPr>
              <a:t> How is the product tailored to the customer/client/ target audience?</a:t>
            </a:r>
            <a:endParaRPr b="0" i="0" sz="1000" u="none" cap="none" strike="noStrike">
              <a:solidFill>
                <a:schemeClr val="dk1"/>
              </a:solidFill>
              <a:latin typeface="Nunito Sans"/>
              <a:ea typeface="Nunito Sans"/>
              <a:cs typeface="Nunito Sans"/>
              <a:sym typeface="Nunito Sans"/>
            </a:endParaRPr>
          </a:p>
        </p:txBody>
      </p:sp>
      <p:grpSp>
        <p:nvGrpSpPr>
          <p:cNvPr id="153" name="Google Shape;153;p9"/>
          <p:cNvGrpSpPr/>
          <p:nvPr/>
        </p:nvGrpSpPr>
        <p:grpSpPr>
          <a:xfrm>
            <a:off x="3404525" y="2390341"/>
            <a:ext cx="2211476" cy="568855"/>
            <a:chOff x="3404525" y="1782550"/>
            <a:chExt cx="2211476" cy="426652"/>
          </a:xfrm>
        </p:grpSpPr>
        <p:pic>
          <p:nvPicPr>
            <p:cNvPr id="154" name="Google Shape;154;p9"/>
            <p:cNvPicPr preferRelativeResize="0"/>
            <p:nvPr/>
          </p:nvPicPr>
          <p:blipFill rotWithShape="1">
            <a:blip r:embed="rId6">
              <a:alphaModFix/>
            </a:blip>
            <a:srcRect b="0" l="0" r="0" t="0"/>
            <a:stretch/>
          </p:blipFill>
          <p:spPr>
            <a:xfrm>
              <a:off x="3404525" y="1907450"/>
              <a:ext cx="301752" cy="301752"/>
            </a:xfrm>
            <a:prstGeom prst="rect">
              <a:avLst/>
            </a:prstGeom>
            <a:noFill/>
            <a:ln>
              <a:noFill/>
            </a:ln>
          </p:spPr>
        </p:pic>
        <p:sp>
          <p:nvSpPr>
            <p:cNvPr id="155" name="Google Shape;155;p9"/>
            <p:cNvSpPr txBox="1"/>
            <p:nvPr/>
          </p:nvSpPr>
          <p:spPr>
            <a:xfrm>
              <a:off x="3832201" y="1782550"/>
              <a:ext cx="1783800" cy="386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Delivery: </a:t>
              </a:r>
              <a:r>
                <a:rPr b="0" i="0" lang="en" sz="1000" u="none" cap="none" strike="noStrike">
                  <a:solidFill>
                    <a:schemeClr val="dk1"/>
                  </a:solidFill>
                  <a:latin typeface="Nunito Sans"/>
                  <a:ea typeface="Nunito Sans"/>
                  <a:cs typeface="Nunito Sans"/>
                  <a:sym typeface="Nunito Sans"/>
                </a:rPr>
                <a:t>When will the product be complete?</a:t>
              </a:r>
              <a:endParaRPr b="0" i="0" sz="1000" u="none" cap="none" strike="noStrike">
                <a:solidFill>
                  <a:schemeClr val="dk1"/>
                </a:solidFill>
                <a:latin typeface="Nunito Sans SemiBold"/>
                <a:ea typeface="Nunito Sans SemiBold"/>
                <a:cs typeface="Nunito Sans SemiBold"/>
                <a:sym typeface="Nunito Sans SemiBold"/>
              </a:endParaRPr>
            </a:p>
          </p:txBody>
        </p:sp>
      </p:grpSp>
      <p:pic>
        <p:nvPicPr>
          <p:cNvPr id="156" name="Google Shape;156;p9"/>
          <p:cNvPicPr preferRelativeResize="0"/>
          <p:nvPr/>
        </p:nvPicPr>
        <p:blipFill rotWithShape="1">
          <a:blip r:embed="rId7">
            <a:alphaModFix/>
          </a:blip>
          <a:srcRect b="0" l="0" r="0" t="0"/>
          <a:stretch/>
        </p:blipFill>
        <p:spPr>
          <a:xfrm>
            <a:off x="3404513" y="3705984"/>
            <a:ext cx="301752" cy="301752"/>
          </a:xfrm>
          <a:prstGeom prst="rect">
            <a:avLst/>
          </a:prstGeom>
          <a:noFill/>
          <a:ln>
            <a:noFill/>
          </a:ln>
        </p:spPr>
      </p:pic>
      <p:sp>
        <p:nvSpPr>
          <p:cNvPr id="157" name="Google Shape;157;p9"/>
          <p:cNvSpPr txBox="1"/>
          <p:nvPr/>
        </p:nvSpPr>
        <p:spPr>
          <a:xfrm>
            <a:off x="3832206" y="3550000"/>
            <a:ext cx="1943700" cy="515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Environment: </a:t>
            </a:r>
            <a:r>
              <a:rPr b="0" i="0" lang="en" sz="1000" u="none" cap="none" strike="noStrike">
                <a:solidFill>
                  <a:schemeClr val="dk1"/>
                </a:solidFill>
                <a:latin typeface="Nunito Sans"/>
                <a:ea typeface="Nunito Sans"/>
                <a:cs typeface="Nunito Sans"/>
                <a:sym typeface="Nunito Sans"/>
              </a:rPr>
              <a:t>Where will the product be used/shown?</a:t>
            </a:r>
            <a:endParaRPr b="0" i="0" sz="1000" u="none" cap="none" strike="noStrike">
              <a:solidFill>
                <a:schemeClr val="dk1"/>
              </a:solidFill>
              <a:latin typeface="Nunito Sans SemiBold"/>
              <a:ea typeface="Nunito Sans SemiBold"/>
              <a:cs typeface="Nunito Sans SemiBold"/>
              <a:sym typeface="Nunito Sans SemiBold"/>
            </a:endParaRPr>
          </a:p>
        </p:txBody>
      </p:sp>
      <p:pic>
        <p:nvPicPr>
          <p:cNvPr id="158" name="Google Shape;158;p9"/>
          <p:cNvPicPr preferRelativeResize="0"/>
          <p:nvPr/>
        </p:nvPicPr>
        <p:blipFill rotWithShape="1">
          <a:blip r:embed="rId8">
            <a:alphaModFix/>
          </a:blip>
          <a:srcRect b="0" l="0" r="0" t="0"/>
          <a:stretch/>
        </p:blipFill>
        <p:spPr>
          <a:xfrm>
            <a:off x="3404525" y="4890784"/>
            <a:ext cx="301752" cy="301752"/>
          </a:xfrm>
          <a:prstGeom prst="rect">
            <a:avLst/>
          </a:prstGeom>
          <a:noFill/>
          <a:ln>
            <a:noFill/>
          </a:ln>
        </p:spPr>
      </p:pic>
      <p:sp>
        <p:nvSpPr>
          <p:cNvPr id="159" name="Google Shape;159;p9"/>
          <p:cNvSpPr txBox="1"/>
          <p:nvPr/>
        </p:nvSpPr>
        <p:spPr>
          <a:xfrm>
            <a:off x="3832201" y="4709600"/>
            <a:ext cx="1783800" cy="515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Function:</a:t>
            </a:r>
            <a:r>
              <a:rPr b="0" i="0" lang="en" sz="1000" u="none" cap="none" strike="noStrike">
                <a:solidFill>
                  <a:schemeClr val="dk1"/>
                </a:solidFill>
                <a:latin typeface="Nunito Sans"/>
                <a:ea typeface="Nunito Sans"/>
                <a:cs typeface="Nunito Sans"/>
                <a:sym typeface="Nunito Sans"/>
              </a:rPr>
              <a:t> What will the product do?</a:t>
            </a:r>
            <a:endParaRPr b="0" i="0" sz="1000" u="none" cap="none" strike="noStrike">
              <a:solidFill>
                <a:schemeClr val="dk1"/>
              </a:solidFill>
              <a:latin typeface="Nunito Sans SemiBold"/>
              <a:ea typeface="Nunito Sans SemiBold"/>
              <a:cs typeface="Nunito Sans SemiBold"/>
              <a:sym typeface="Nunito Sans SemiBo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graphicFrame>
        <p:nvGraphicFramePr>
          <p:cNvPr id="164" name="Google Shape;164;p10"/>
          <p:cNvGraphicFramePr/>
          <p:nvPr/>
        </p:nvGraphicFramePr>
        <p:xfrm>
          <a:off x="680250" y="705167"/>
          <a:ext cx="3000000" cy="3000000"/>
        </p:xfrm>
        <a:graphic>
          <a:graphicData uri="http://schemas.openxmlformats.org/drawingml/2006/table">
            <a:tbl>
              <a:tblPr>
                <a:noFill/>
                <a:tableStyleId>{45941D38-FAF8-4977-8D50-FB8890D63691}</a:tableStyleId>
              </a:tblPr>
              <a:tblGrid>
                <a:gridCol w="387025"/>
                <a:gridCol w="1761750"/>
                <a:gridCol w="1833900"/>
                <a:gridCol w="1845075"/>
                <a:gridCol w="1968550"/>
              </a:tblGrid>
              <a:tr h="430600">
                <a:tc gridSpan="5">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Personal project product success criteria</a:t>
                      </a:r>
                      <a:endParaRPr sz="1500" u="none" cap="none" strike="noStrike">
                        <a:solidFill>
                          <a:srgbClr val="5050C5"/>
                        </a:solidFill>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hMerge="1"/>
                <a:tc hMerge="1"/>
                <a:tc hMerge="1"/>
                <a:tc hMerge="1"/>
              </a:tr>
              <a:tr h="396425">
                <a:tc gridSpan="5">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My product:</a:t>
                      </a:r>
                      <a:endParaRPr sz="15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hMerge="1"/>
                <a:tc hMerge="1"/>
                <a:tc hMerge="1"/>
                <a:tc hMerge="1"/>
              </a:tr>
              <a:tr h="412400">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Criterion A:</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Criterion B:</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Criterion C:</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Criterion D:</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r>
              <a:tr h="842900">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The product does not reach a standard described by any of the descriptors below.</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The product does not reach a standard described by any of the descriptors below.</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The product does not reach a standard described by any of the descriptors below.</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The product does not reach a standard described by any of the descriptors below.</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649300">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1-2</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649300">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3-4</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649300">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5-6</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912525">
                <a:tc>
                  <a:txBody>
                    <a:bodyPr/>
                    <a:lstStyle/>
                    <a:p>
                      <a:pPr indent="0" lvl="0" marL="0" marR="0" rtl="0" algn="ctr">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7-8</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1"/>
          <p:cNvSpPr txBox="1"/>
          <p:nvPr/>
        </p:nvSpPr>
        <p:spPr>
          <a:xfrm>
            <a:off x="604050" y="1001700"/>
            <a:ext cx="69915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Design a checklist in as much detail as possible under the headings in this template.</a:t>
            </a:r>
            <a:endParaRPr b="0" i="0" sz="1200" u="none" cap="none" strike="noStrike">
              <a:solidFill>
                <a:schemeClr val="dk1"/>
              </a:solidFill>
              <a:latin typeface="Nunito Sans"/>
              <a:ea typeface="Nunito Sans"/>
              <a:cs typeface="Nunito Sans"/>
              <a:sym typeface="Nunito Sans"/>
            </a:endParaRPr>
          </a:p>
        </p:txBody>
      </p:sp>
      <p:sp>
        <p:nvSpPr>
          <p:cNvPr id="170" name="Google Shape;170;p11"/>
          <p:cNvSpPr txBox="1"/>
          <p:nvPr/>
        </p:nvSpPr>
        <p:spPr>
          <a:xfrm>
            <a:off x="604050" y="531167"/>
            <a:ext cx="3000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500"/>
              <a:buFont typeface="Arial"/>
              <a:buNone/>
            </a:pPr>
            <a:r>
              <a:rPr b="1" i="0" lang="en" sz="1500" u="none" cap="none" strike="noStrike">
                <a:solidFill>
                  <a:schemeClr val="dk1"/>
                </a:solidFill>
                <a:highlight>
                  <a:srgbClr val="F5F5FF"/>
                </a:highlight>
                <a:latin typeface="Nunito Sans"/>
                <a:ea typeface="Nunito Sans"/>
                <a:cs typeface="Nunito Sans"/>
                <a:sym typeface="Nunito Sans"/>
              </a:rPr>
              <a:t>Specifications</a:t>
            </a:r>
            <a:endParaRPr b="0" i="0" sz="1500" u="none" cap="none" strike="noStrike">
              <a:solidFill>
                <a:srgbClr val="000000"/>
              </a:solidFill>
              <a:highlight>
                <a:srgbClr val="F5F5FF"/>
              </a:highlight>
              <a:latin typeface="Nunito Sans"/>
              <a:ea typeface="Nunito Sans"/>
              <a:cs typeface="Nunito Sans"/>
              <a:sym typeface="Nunito Sans"/>
            </a:endParaRPr>
          </a:p>
        </p:txBody>
      </p:sp>
      <p:graphicFrame>
        <p:nvGraphicFramePr>
          <p:cNvPr id="171" name="Google Shape;171;p11"/>
          <p:cNvGraphicFramePr/>
          <p:nvPr/>
        </p:nvGraphicFramePr>
        <p:xfrm>
          <a:off x="683563" y="1654651"/>
          <a:ext cx="3000000" cy="3000000"/>
        </p:xfrm>
        <a:graphic>
          <a:graphicData uri="http://schemas.openxmlformats.org/drawingml/2006/table">
            <a:tbl>
              <a:tblPr>
                <a:noFill/>
                <a:tableStyleId>{45941D38-FAF8-4977-8D50-FB8890D63691}</a:tableStyleId>
              </a:tblPr>
              <a:tblGrid>
                <a:gridCol w="2046475"/>
                <a:gridCol w="5736300"/>
              </a:tblGrid>
              <a:tr h="495875">
                <a:tc>
                  <a:txBody>
                    <a:bodyPr/>
                    <a:lstStyle/>
                    <a:p>
                      <a:pPr indent="0" lvl="0" marL="0" marR="0" rtl="0" algn="l">
                        <a:lnSpc>
                          <a:spcPct val="115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Specification type</a:t>
                      </a:r>
                      <a:endParaRPr sz="15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15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My Specification</a:t>
                      </a:r>
                      <a:endParaRPr sz="15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r>
              <a:tr h="495875">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Aesthetic</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495875">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Cost</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495875">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Customer</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495875">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Environment</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495875">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Size</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495875">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Safety</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495875">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Function</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377500">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Material</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FCFF"/>
        </a:solidFill>
      </p:bgPr>
    </p:bg>
    <p:spTree>
      <p:nvGrpSpPr>
        <p:cNvPr id="175" name="Shape 175"/>
        <p:cNvGrpSpPr/>
        <p:nvPr/>
      </p:nvGrpSpPr>
      <p:grpSpPr>
        <a:xfrm>
          <a:off x="0" y="0"/>
          <a:ext cx="0" cy="0"/>
          <a:chOff x="0" y="0"/>
          <a:chExt cx="0" cy="0"/>
        </a:xfrm>
      </p:grpSpPr>
      <p:sp>
        <p:nvSpPr>
          <p:cNvPr id="176" name="Google Shape;176;p12"/>
          <p:cNvSpPr txBox="1"/>
          <p:nvPr>
            <p:ph idx="4294967295" type="title"/>
          </p:nvPr>
        </p:nvSpPr>
        <p:spPr>
          <a:xfrm>
            <a:off x="2059350" y="2963476"/>
            <a:ext cx="5025300" cy="50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1800">
                <a:latin typeface="Nunito Sans"/>
                <a:ea typeface="Nunito Sans"/>
                <a:cs typeface="Nunito Sans"/>
                <a:sym typeface="Nunito Sans"/>
              </a:rPr>
              <a:t>Action plans templates</a:t>
            </a:r>
            <a:endParaRPr b="1" sz="1800">
              <a:latin typeface="Nunito Sans"/>
              <a:ea typeface="Nunito Sans"/>
              <a:cs typeface="Nunito Sans"/>
              <a:sym typeface="Nunito Sans"/>
            </a:endParaRPr>
          </a:p>
        </p:txBody>
      </p:sp>
      <p:sp>
        <p:nvSpPr>
          <p:cNvPr id="177" name="Google Shape;177;p12"/>
          <p:cNvSpPr txBox="1"/>
          <p:nvPr/>
        </p:nvSpPr>
        <p:spPr>
          <a:xfrm>
            <a:off x="2652925" y="3433996"/>
            <a:ext cx="3838200" cy="1058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0" i="0" lang="en" sz="1200" u="none" cap="none" strike="noStrike">
                <a:solidFill>
                  <a:schemeClr val="dk1"/>
                </a:solidFill>
                <a:latin typeface="Nunito Sans"/>
                <a:ea typeface="Nunito Sans"/>
                <a:cs typeface="Nunito Sans"/>
                <a:sym typeface="Nunito Sans"/>
              </a:rPr>
              <a:t>These  templates are designed to help you present a </a:t>
            </a:r>
            <a:r>
              <a:rPr b="0" i="0" lang="en" sz="1200" u="none" cap="none" strike="noStrike">
                <a:solidFill>
                  <a:schemeClr val="dk1"/>
                </a:solidFill>
                <a:latin typeface="Nunito SemiBold"/>
                <a:ea typeface="Nunito SemiBold"/>
                <a:cs typeface="Nunito SemiBold"/>
                <a:sym typeface="Nunito SemiBold"/>
              </a:rPr>
              <a:t>clear, detailed plan for achieving the product and its associated success criteria.</a:t>
            </a:r>
            <a:endParaRPr b="0" i="0" sz="1200" u="none" cap="none" strike="noStrike">
              <a:solidFill>
                <a:schemeClr val="dk1"/>
              </a:solidFill>
              <a:latin typeface="Nunito SemiBold"/>
              <a:ea typeface="Nunito SemiBold"/>
              <a:cs typeface="Nunito SemiBold"/>
              <a:sym typeface="Nunito SemiBold"/>
            </a:endParaRPr>
          </a:p>
        </p:txBody>
      </p:sp>
      <p:pic>
        <p:nvPicPr>
          <p:cNvPr id="178" name="Google Shape;178;p12"/>
          <p:cNvPicPr preferRelativeResize="0"/>
          <p:nvPr/>
        </p:nvPicPr>
        <p:blipFill rotWithShape="1">
          <a:blip r:embed="rId3">
            <a:alphaModFix/>
          </a:blip>
          <a:srcRect b="0" l="0" r="0" t="0"/>
          <a:stretch/>
        </p:blipFill>
        <p:spPr>
          <a:xfrm>
            <a:off x="4201663" y="1945129"/>
            <a:ext cx="740664" cy="74066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3"/>
          <p:cNvSpPr txBox="1"/>
          <p:nvPr/>
        </p:nvSpPr>
        <p:spPr>
          <a:xfrm>
            <a:off x="593800" y="525600"/>
            <a:ext cx="3000000" cy="404100"/>
          </a:xfrm>
          <a:prstGeom prst="rect">
            <a:avLst/>
          </a:prstGeom>
          <a:noFill/>
          <a:ln>
            <a:noFill/>
          </a:ln>
        </p:spPr>
        <p:txBody>
          <a:bodyPr anchorCtr="0" anchor="t" bIns="91425" lIns="91425" spcFirstLastPara="1" rIns="91425" wrap="square" tIns="91425">
            <a:spAutoFit/>
          </a:bodyPr>
          <a:lstStyle/>
          <a:p>
            <a:pPr indent="0" lvl="0" marL="0" marR="0" rtl="0" algn="l">
              <a:lnSpc>
                <a:spcPct val="95000"/>
              </a:lnSpc>
              <a:spcBef>
                <a:spcPts val="0"/>
              </a:spcBef>
              <a:spcAft>
                <a:spcPts val="0"/>
              </a:spcAft>
              <a:buClr>
                <a:srgbClr val="000000"/>
              </a:buClr>
              <a:buSzPts val="1500"/>
              <a:buFont typeface="Arial"/>
              <a:buNone/>
            </a:pPr>
            <a:r>
              <a:rPr b="1" i="0" lang="en" sz="1500" u="none" cap="none" strike="noStrike">
                <a:solidFill>
                  <a:schemeClr val="dk1"/>
                </a:solidFill>
                <a:highlight>
                  <a:srgbClr val="EBFCFF"/>
                </a:highlight>
                <a:latin typeface="Nunito Sans"/>
                <a:ea typeface="Nunito Sans"/>
                <a:cs typeface="Nunito Sans"/>
                <a:sym typeface="Nunito Sans"/>
              </a:rPr>
              <a:t>Action plan</a:t>
            </a:r>
            <a:endParaRPr b="1" i="0" sz="1500" u="none" cap="none" strike="noStrike">
              <a:solidFill>
                <a:schemeClr val="dk1"/>
              </a:solidFill>
              <a:highlight>
                <a:srgbClr val="EBFCFF"/>
              </a:highlight>
              <a:latin typeface="Nunito Sans"/>
              <a:ea typeface="Nunito Sans"/>
              <a:cs typeface="Nunito Sans"/>
              <a:sym typeface="Nunito Sans"/>
            </a:endParaRPr>
          </a:p>
        </p:txBody>
      </p:sp>
      <p:sp>
        <p:nvSpPr>
          <p:cNvPr id="184" name="Google Shape;184;p13"/>
          <p:cNvSpPr txBox="1"/>
          <p:nvPr/>
        </p:nvSpPr>
        <p:spPr>
          <a:xfrm>
            <a:off x="593800" y="996133"/>
            <a:ext cx="3933900" cy="1959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Using the success criteria that you created, you can design an action plan to help you create your product.</a:t>
            </a:r>
            <a:endParaRPr b="0" i="0" sz="1200" u="none" cap="none" strike="noStrike">
              <a:solidFill>
                <a:schemeClr val="dk1"/>
              </a:solidFill>
              <a:latin typeface="Nunito Sans"/>
              <a:ea typeface="Nunito Sans"/>
              <a:cs typeface="Nunito Sans"/>
              <a:sym typeface="Nunito Sans"/>
            </a:endParaRPr>
          </a:p>
          <a:p>
            <a:pPr indent="0" lvl="0" marL="0" marR="0" rtl="0" algn="l">
              <a:lnSpc>
                <a:spcPct val="115000"/>
              </a:lnSpc>
              <a:spcBef>
                <a:spcPts val="80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You might choose to make a GANTT chart, slippage chart, flow chart, to-do list, timeline, storyboards, wireframes, calendar, scrum board, kanban board or any other method.  A detailed action plan may include a description of each step, resources needed, the time needed and/or deadlines.</a:t>
            </a:r>
            <a:endParaRPr b="0" i="0" sz="1200" u="none" cap="none" strike="noStrike">
              <a:solidFill>
                <a:schemeClr val="dk1"/>
              </a:solidFill>
              <a:latin typeface="Nunito Sans"/>
              <a:ea typeface="Nunito Sans"/>
              <a:cs typeface="Nunito Sans"/>
              <a:sym typeface="Nunito Sans"/>
            </a:endParaRPr>
          </a:p>
        </p:txBody>
      </p:sp>
      <p:grpSp>
        <p:nvGrpSpPr>
          <p:cNvPr id="185" name="Google Shape;185;p13"/>
          <p:cNvGrpSpPr/>
          <p:nvPr/>
        </p:nvGrpSpPr>
        <p:grpSpPr>
          <a:xfrm>
            <a:off x="5194293" y="2047418"/>
            <a:ext cx="3687695" cy="4518372"/>
            <a:chOff x="5029800" y="538700"/>
            <a:chExt cx="3445800" cy="3794400"/>
          </a:xfrm>
        </p:grpSpPr>
        <p:sp>
          <p:nvSpPr>
            <p:cNvPr id="186" name="Google Shape;186;p13"/>
            <p:cNvSpPr/>
            <p:nvPr/>
          </p:nvSpPr>
          <p:spPr>
            <a:xfrm>
              <a:off x="5029800" y="538700"/>
              <a:ext cx="3445800" cy="3794400"/>
            </a:xfrm>
            <a:prstGeom prst="rect">
              <a:avLst/>
            </a:prstGeom>
            <a:solidFill>
              <a:srgbClr val="EBFCFF"/>
            </a:solidFill>
            <a:ln>
              <a:noFill/>
            </a:ln>
          </p:spPr>
          <p:txBody>
            <a:bodyPr anchorCtr="0" anchor="ctr" bIns="97850" lIns="97850" spcFirstLastPara="1" rIns="97850" wrap="square" tIns="97850">
              <a:noAutofit/>
            </a:bodyPr>
            <a:lstStyle/>
            <a:p>
              <a:pPr indent="0" lvl="0" marL="0" marR="0" rtl="0" algn="l">
                <a:lnSpc>
                  <a:spcPct val="100000"/>
                </a:lnSpc>
                <a:spcBef>
                  <a:spcPts val="0"/>
                </a:spcBef>
                <a:spcAft>
                  <a:spcPts val="0"/>
                </a:spcAft>
                <a:buClr>
                  <a:srgbClr val="000000"/>
                </a:buClr>
                <a:buSzPts val="1498"/>
                <a:buFont typeface="Arial"/>
                <a:buNone/>
              </a:pPr>
              <a:r>
                <a:t/>
              </a:r>
              <a:endParaRPr b="0" i="0" sz="1498" u="none" cap="none" strike="noStrike">
                <a:solidFill>
                  <a:srgbClr val="000000"/>
                </a:solidFill>
                <a:latin typeface="Arial"/>
                <a:ea typeface="Arial"/>
                <a:cs typeface="Arial"/>
                <a:sym typeface="Arial"/>
              </a:endParaRPr>
            </a:p>
          </p:txBody>
        </p:sp>
        <p:pic>
          <p:nvPicPr>
            <p:cNvPr id="187" name="Google Shape;187;p13"/>
            <p:cNvPicPr preferRelativeResize="0"/>
            <p:nvPr/>
          </p:nvPicPr>
          <p:blipFill rotWithShape="1">
            <a:blip r:embed="rId3">
              <a:alphaModFix/>
            </a:blip>
            <a:srcRect b="0" l="0" r="0" t="0"/>
            <a:stretch/>
          </p:blipFill>
          <p:spPr>
            <a:xfrm>
              <a:off x="5278650" y="694925"/>
              <a:ext cx="2948099" cy="3481948"/>
            </a:xfrm>
            <a:prstGeom prst="rect">
              <a:avLst/>
            </a:prstGeom>
            <a:noFill/>
            <a:ln>
              <a:noFill/>
            </a:ln>
          </p:spPr>
        </p:pic>
        <p:sp>
          <p:nvSpPr>
            <p:cNvPr id="188" name="Google Shape;188;p13"/>
            <p:cNvSpPr txBox="1"/>
            <p:nvPr/>
          </p:nvSpPr>
          <p:spPr>
            <a:xfrm>
              <a:off x="6537750" y="694925"/>
              <a:ext cx="429900" cy="415500"/>
            </a:xfrm>
            <a:prstGeom prst="rect">
              <a:avLst/>
            </a:prstGeom>
            <a:noFill/>
            <a:ln>
              <a:noFill/>
            </a:ln>
          </p:spPr>
          <p:txBody>
            <a:bodyPr anchorCtr="0" anchor="ctr" bIns="97850" lIns="97850" spcFirstLastPara="1" rIns="97850" wrap="square" tIns="97850">
              <a:noAutofit/>
            </a:bodyPr>
            <a:lstStyle/>
            <a:p>
              <a:pPr indent="0" lvl="0" marL="0" marR="0" rtl="0" algn="ctr">
                <a:lnSpc>
                  <a:spcPct val="95000"/>
                </a:lnSpc>
                <a:spcBef>
                  <a:spcPts val="0"/>
                </a:spcBef>
                <a:spcAft>
                  <a:spcPts val="0"/>
                </a:spcAft>
                <a:buClr>
                  <a:srgbClr val="000000"/>
                </a:buClr>
                <a:buSzPts val="856"/>
                <a:buFont typeface="Arial"/>
                <a:buNone/>
              </a:pPr>
              <a:r>
                <a:rPr b="0" i="0" lang="en" sz="856" u="none" cap="none" strike="noStrike">
                  <a:solidFill>
                    <a:schemeClr val="dk1"/>
                  </a:solidFill>
                  <a:latin typeface="Nunito Sans"/>
                  <a:ea typeface="Nunito Sans"/>
                  <a:cs typeface="Nunito Sans"/>
                  <a:sym typeface="Nunito Sans"/>
                </a:rPr>
                <a:t>Start</a:t>
              </a:r>
              <a:endParaRPr b="0" i="0" sz="856" u="none" cap="none" strike="noStrike">
                <a:solidFill>
                  <a:schemeClr val="dk1"/>
                </a:solidFill>
                <a:latin typeface="Nunito Sans"/>
                <a:ea typeface="Nunito Sans"/>
                <a:cs typeface="Nunito Sans"/>
                <a:sym typeface="Nunito Sans"/>
              </a:endParaRPr>
            </a:p>
          </p:txBody>
        </p:sp>
        <p:sp>
          <p:nvSpPr>
            <p:cNvPr id="189" name="Google Shape;189;p13"/>
            <p:cNvSpPr txBox="1"/>
            <p:nvPr/>
          </p:nvSpPr>
          <p:spPr>
            <a:xfrm>
              <a:off x="6537750" y="3761375"/>
              <a:ext cx="429900" cy="415500"/>
            </a:xfrm>
            <a:prstGeom prst="rect">
              <a:avLst/>
            </a:prstGeom>
            <a:noFill/>
            <a:ln>
              <a:noFill/>
            </a:ln>
          </p:spPr>
          <p:txBody>
            <a:bodyPr anchorCtr="0" anchor="ctr" bIns="97850" lIns="97850" spcFirstLastPara="1" rIns="97850" wrap="square" tIns="97850">
              <a:noAutofit/>
            </a:bodyPr>
            <a:lstStyle/>
            <a:p>
              <a:pPr indent="0" lvl="0" marL="0" marR="0" rtl="0" algn="ctr">
                <a:lnSpc>
                  <a:spcPct val="95000"/>
                </a:lnSpc>
                <a:spcBef>
                  <a:spcPts val="0"/>
                </a:spcBef>
                <a:spcAft>
                  <a:spcPts val="0"/>
                </a:spcAft>
                <a:buClr>
                  <a:srgbClr val="000000"/>
                </a:buClr>
                <a:buSzPts val="856"/>
                <a:buFont typeface="Arial"/>
                <a:buNone/>
              </a:pPr>
              <a:r>
                <a:rPr b="0" i="0" lang="en" sz="856" u="none" cap="none" strike="noStrike">
                  <a:solidFill>
                    <a:schemeClr val="dk1"/>
                  </a:solidFill>
                  <a:latin typeface="Nunito Sans"/>
                  <a:ea typeface="Nunito Sans"/>
                  <a:cs typeface="Nunito Sans"/>
                  <a:sym typeface="Nunito Sans"/>
                </a:rPr>
                <a:t>End</a:t>
              </a:r>
              <a:endParaRPr b="0" i="0" sz="856" u="none" cap="none" strike="noStrike">
                <a:solidFill>
                  <a:schemeClr val="dk1"/>
                </a:solidFill>
                <a:latin typeface="Nunito Sans"/>
                <a:ea typeface="Nunito Sans"/>
                <a:cs typeface="Nunito Sans"/>
                <a:sym typeface="Nunito Sans"/>
              </a:endParaRPr>
            </a:p>
          </p:txBody>
        </p:sp>
        <p:sp>
          <p:nvSpPr>
            <p:cNvPr id="190" name="Google Shape;190;p13"/>
            <p:cNvSpPr txBox="1"/>
            <p:nvPr/>
          </p:nvSpPr>
          <p:spPr>
            <a:xfrm>
              <a:off x="6400450" y="1468125"/>
              <a:ext cx="710700" cy="415500"/>
            </a:xfrm>
            <a:prstGeom prst="rect">
              <a:avLst/>
            </a:prstGeom>
            <a:noFill/>
            <a:ln>
              <a:noFill/>
            </a:ln>
          </p:spPr>
          <p:txBody>
            <a:bodyPr anchorCtr="0" anchor="ctr" bIns="97850" lIns="97850" spcFirstLastPara="1" rIns="97850" wrap="square" tIns="97850">
              <a:noAutofit/>
            </a:bodyPr>
            <a:lstStyle/>
            <a:p>
              <a:pPr indent="0" lvl="0" marL="0" marR="0" rtl="0" algn="ctr">
                <a:lnSpc>
                  <a:spcPct val="95000"/>
                </a:lnSpc>
                <a:spcBef>
                  <a:spcPts val="0"/>
                </a:spcBef>
                <a:spcAft>
                  <a:spcPts val="0"/>
                </a:spcAft>
                <a:buClr>
                  <a:srgbClr val="000000"/>
                </a:buClr>
                <a:buSzPts val="856"/>
                <a:buFont typeface="Arial"/>
                <a:buNone/>
              </a:pPr>
              <a:r>
                <a:rPr b="0" i="0" lang="en" sz="856" u="none" cap="none" strike="noStrike">
                  <a:solidFill>
                    <a:schemeClr val="dk1"/>
                  </a:solidFill>
                  <a:latin typeface="Nunito Sans"/>
                  <a:ea typeface="Nunito Sans"/>
                  <a:cs typeface="Nunito Sans"/>
                  <a:sym typeface="Nunito Sans"/>
                </a:rPr>
                <a:t>Decision</a:t>
              </a:r>
              <a:endParaRPr b="0" i="0" sz="856" u="none" cap="none" strike="noStrike">
                <a:solidFill>
                  <a:schemeClr val="dk1"/>
                </a:solidFill>
                <a:latin typeface="Nunito Sans"/>
                <a:ea typeface="Nunito Sans"/>
                <a:cs typeface="Nunito Sans"/>
                <a:sym typeface="Nunito Sans"/>
              </a:endParaRPr>
            </a:p>
          </p:txBody>
        </p:sp>
        <p:sp>
          <p:nvSpPr>
            <p:cNvPr id="191" name="Google Shape;191;p13"/>
            <p:cNvSpPr txBox="1"/>
            <p:nvPr/>
          </p:nvSpPr>
          <p:spPr>
            <a:xfrm>
              <a:off x="6400450" y="3070050"/>
              <a:ext cx="710700" cy="415500"/>
            </a:xfrm>
            <a:prstGeom prst="rect">
              <a:avLst/>
            </a:prstGeom>
            <a:noFill/>
            <a:ln>
              <a:noFill/>
            </a:ln>
          </p:spPr>
          <p:txBody>
            <a:bodyPr anchorCtr="0" anchor="ctr" bIns="97850" lIns="97850" spcFirstLastPara="1" rIns="97850" wrap="square" tIns="97850">
              <a:noAutofit/>
            </a:bodyPr>
            <a:lstStyle/>
            <a:p>
              <a:pPr indent="0" lvl="0" marL="0" marR="0" rtl="0" algn="ctr">
                <a:lnSpc>
                  <a:spcPct val="95000"/>
                </a:lnSpc>
                <a:spcBef>
                  <a:spcPts val="0"/>
                </a:spcBef>
                <a:spcAft>
                  <a:spcPts val="0"/>
                </a:spcAft>
                <a:buClr>
                  <a:srgbClr val="000000"/>
                </a:buClr>
                <a:buSzPts val="856"/>
                <a:buFont typeface="Arial"/>
                <a:buNone/>
              </a:pPr>
              <a:r>
                <a:rPr b="0" i="0" lang="en" sz="856" u="none" cap="none" strike="noStrike">
                  <a:solidFill>
                    <a:schemeClr val="dk1"/>
                  </a:solidFill>
                  <a:latin typeface="Nunito Sans"/>
                  <a:ea typeface="Nunito Sans"/>
                  <a:cs typeface="Nunito Sans"/>
                  <a:sym typeface="Nunito Sans"/>
                </a:rPr>
                <a:t>Action</a:t>
              </a:r>
              <a:endParaRPr b="0" i="0" sz="856" u="none" cap="none" strike="noStrike">
                <a:solidFill>
                  <a:schemeClr val="dk1"/>
                </a:solidFill>
                <a:latin typeface="Nunito Sans"/>
                <a:ea typeface="Nunito Sans"/>
                <a:cs typeface="Nunito Sans"/>
                <a:sym typeface="Nunito Sans"/>
              </a:endParaRPr>
            </a:p>
          </p:txBody>
        </p:sp>
        <p:sp>
          <p:nvSpPr>
            <p:cNvPr id="192" name="Google Shape;192;p13"/>
            <p:cNvSpPr txBox="1"/>
            <p:nvPr/>
          </p:nvSpPr>
          <p:spPr>
            <a:xfrm>
              <a:off x="5378225" y="2201825"/>
              <a:ext cx="710700" cy="415500"/>
            </a:xfrm>
            <a:prstGeom prst="rect">
              <a:avLst/>
            </a:prstGeom>
            <a:noFill/>
            <a:ln>
              <a:noFill/>
            </a:ln>
          </p:spPr>
          <p:txBody>
            <a:bodyPr anchorCtr="0" anchor="ctr" bIns="97850" lIns="97850" spcFirstLastPara="1" rIns="97850" wrap="square" tIns="97850">
              <a:noAutofit/>
            </a:bodyPr>
            <a:lstStyle/>
            <a:p>
              <a:pPr indent="0" lvl="0" marL="0" marR="0" rtl="0" algn="ctr">
                <a:lnSpc>
                  <a:spcPct val="95000"/>
                </a:lnSpc>
                <a:spcBef>
                  <a:spcPts val="0"/>
                </a:spcBef>
                <a:spcAft>
                  <a:spcPts val="0"/>
                </a:spcAft>
                <a:buClr>
                  <a:srgbClr val="000000"/>
                </a:buClr>
                <a:buSzPts val="856"/>
                <a:buFont typeface="Arial"/>
                <a:buNone/>
              </a:pPr>
              <a:r>
                <a:rPr b="0" i="0" lang="en" sz="856" u="none" cap="none" strike="noStrike">
                  <a:solidFill>
                    <a:schemeClr val="dk1"/>
                  </a:solidFill>
                  <a:latin typeface="Nunito Sans"/>
                  <a:ea typeface="Nunito Sans"/>
                  <a:cs typeface="Nunito Sans"/>
                  <a:sym typeface="Nunito Sans"/>
                </a:rPr>
                <a:t>Process 1</a:t>
              </a:r>
              <a:endParaRPr b="0" i="0" sz="856" u="none" cap="none" strike="noStrike">
                <a:solidFill>
                  <a:schemeClr val="dk1"/>
                </a:solidFill>
                <a:latin typeface="Nunito Sans"/>
                <a:ea typeface="Nunito Sans"/>
                <a:cs typeface="Nunito Sans"/>
                <a:sym typeface="Nunito Sans"/>
              </a:endParaRPr>
            </a:p>
          </p:txBody>
        </p:sp>
        <p:sp>
          <p:nvSpPr>
            <p:cNvPr id="193" name="Google Shape;193;p13"/>
            <p:cNvSpPr txBox="1"/>
            <p:nvPr/>
          </p:nvSpPr>
          <p:spPr>
            <a:xfrm>
              <a:off x="6397350" y="2201825"/>
              <a:ext cx="710700" cy="415500"/>
            </a:xfrm>
            <a:prstGeom prst="rect">
              <a:avLst/>
            </a:prstGeom>
            <a:noFill/>
            <a:ln>
              <a:noFill/>
            </a:ln>
          </p:spPr>
          <p:txBody>
            <a:bodyPr anchorCtr="0" anchor="ctr" bIns="97850" lIns="97850" spcFirstLastPara="1" rIns="97850" wrap="square" tIns="97850">
              <a:noAutofit/>
            </a:bodyPr>
            <a:lstStyle/>
            <a:p>
              <a:pPr indent="0" lvl="0" marL="0" marR="0" rtl="0" algn="ctr">
                <a:lnSpc>
                  <a:spcPct val="95000"/>
                </a:lnSpc>
                <a:spcBef>
                  <a:spcPts val="0"/>
                </a:spcBef>
                <a:spcAft>
                  <a:spcPts val="0"/>
                </a:spcAft>
                <a:buClr>
                  <a:srgbClr val="000000"/>
                </a:buClr>
                <a:buSzPts val="856"/>
                <a:buFont typeface="Arial"/>
                <a:buNone/>
              </a:pPr>
              <a:r>
                <a:rPr b="0" i="0" lang="en" sz="856" u="none" cap="none" strike="noStrike">
                  <a:solidFill>
                    <a:schemeClr val="dk1"/>
                  </a:solidFill>
                  <a:latin typeface="Nunito Sans"/>
                  <a:ea typeface="Nunito Sans"/>
                  <a:cs typeface="Nunito Sans"/>
                  <a:sym typeface="Nunito Sans"/>
                </a:rPr>
                <a:t>Process 2</a:t>
              </a:r>
              <a:endParaRPr b="0" i="0" sz="856" u="none" cap="none" strike="noStrike">
                <a:solidFill>
                  <a:schemeClr val="dk1"/>
                </a:solidFill>
                <a:latin typeface="Nunito Sans"/>
                <a:ea typeface="Nunito Sans"/>
                <a:cs typeface="Nunito Sans"/>
                <a:sym typeface="Nunito Sans"/>
              </a:endParaRPr>
            </a:p>
          </p:txBody>
        </p:sp>
        <p:sp>
          <p:nvSpPr>
            <p:cNvPr id="194" name="Google Shape;194;p13"/>
            <p:cNvSpPr txBox="1"/>
            <p:nvPr/>
          </p:nvSpPr>
          <p:spPr>
            <a:xfrm>
              <a:off x="7416475" y="2201825"/>
              <a:ext cx="710700" cy="415500"/>
            </a:xfrm>
            <a:prstGeom prst="rect">
              <a:avLst/>
            </a:prstGeom>
            <a:noFill/>
            <a:ln>
              <a:noFill/>
            </a:ln>
          </p:spPr>
          <p:txBody>
            <a:bodyPr anchorCtr="0" anchor="ctr" bIns="97850" lIns="97850" spcFirstLastPara="1" rIns="97850" wrap="square" tIns="97850">
              <a:noAutofit/>
            </a:bodyPr>
            <a:lstStyle/>
            <a:p>
              <a:pPr indent="0" lvl="0" marL="0" marR="0" rtl="0" algn="ctr">
                <a:lnSpc>
                  <a:spcPct val="95000"/>
                </a:lnSpc>
                <a:spcBef>
                  <a:spcPts val="0"/>
                </a:spcBef>
                <a:spcAft>
                  <a:spcPts val="0"/>
                </a:spcAft>
                <a:buClr>
                  <a:srgbClr val="000000"/>
                </a:buClr>
                <a:buSzPts val="856"/>
                <a:buFont typeface="Arial"/>
                <a:buNone/>
              </a:pPr>
              <a:r>
                <a:rPr b="0" i="0" lang="en" sz="856" u="none" cap="none" strike="noStrike">
                  <a:solidFill>
                    <a:schemeClr val="dk1"/>
                  </a:solidFill>
                  <a:latin typeface="Nunito Sans"/>
                  <a:ea typeface="Nunito Sans"/>
                  <a:cs typeface="Nunito Sans"/>
                  <a:sym typeface="Nunito Sans"/>
                </a:rPr>
                <a:t>Process 3</a:t>
              </a:r>
              <a:endParaRPr b="0" i="0" sz="856" u="none" cap="none" strike="noStrike">
                <a:solidFill>
                  <a:schemeClr val="dk1"/>
                </a:solidFill>
                <a:latin typeface="Nunito Sans"/>
                <a:ea typeface="Nunito Sans"/>
                <a:cs typeface="Nunito Sans"/>
                <a:sym typeface="Nunito San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4"/>
          <p:cNvSpPr txBox="1"/>
          <p:nvPr>
            <p:ph type="title"/>
          </p:nvPr>
        </p:nvSpPr>
        <p:spPr>
          <a:xfrm>
            <a:off x="588675" y="1000000"/>
            <a:ext cx="7768500" cy="124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800"/>
              <a:buNone/>
            </a:pPr>
            <a:r>
              <a:rPr lang="en" sz="1200">
                <a:latin typeface="Nunito Sans"/>
                <a:ea typeface="Nunito Sans"/>
                <a:cs typeface="Nunito Sans"/>
                <a:sym typeface="Nunito Sans"/>
              </a:rPr>
              <a:t>Use this template to lay out the key components of your project that need to be completed and give each a specific deadline. You can also include strategies or resources that may help you to complete the task and evidence that will demonstrate completion. </a:t>
            </a:r>
            <a:endParaRPr sz="1200">
              <a:latin typeface="Nunito Sans"/>
              <a:ea typeface="Nunito Sans"/>
              <a:cs typeface="Nunito Sans"/>
              <a:sym typeface="Nunito Sans"/>
            </a:endParaRPr>
          </a:p>
        </p:txBody>
      </p:sp>
      <p:sp>
        <p:nvSpPr>
          <p:cNvPr id="200" name="Google Shape;200;p14"/>
          <p:cNvSpPr txBox="1"/>
          <p:nvPr/>
        </p:nvSpPr>
        <p:spPr>
          <a:xfrm>
            <a:off x="588675" y="529467"/>
            <a:ext cx="3000000" cy="404100"/>
          </a:xfrm>
          <a:prstGeom prst="rect">
            <a:avLst/>
          </a:prstGeom>
          <a:noFill/>
          <a:ln>
            <a:noFill/>
          </a:ln>
        </p:spPr>
        <p:txBody>
          <a:bodyPr anchorCtr="0" anchor="t" bIns="91425" lIns="91425" spcFirstLastPara="1" rIns="91425" wrap="square" tIns="91425">
            <a:spAutoFit/>
          </a:bodyPr>
          <a:lstStyle/>
          <a:p>
            <a:pPr indent="0" lvl="0" marL="0" marR="0" rtl="0" algn="l">
              <a:lnSpc>
                <a:spcPct val="95000"/>
              </a:lnSpc>
              <a:spcBef>
                <a:spcPts val="0"/>
              </a:spcBef>
              <a:spcAft>
                <a:spcPts val="0"/>
              </a:spcAft>
              <a:buClr>
                <a:srgbClr val="000000"/>
              </a:buClr>
              <a:buSzPts val="1500"/>
              <a:buFont typeface="Arial"/>
              <a:buNone/>
            </a:pPr>
            <a:r>
              <a:rPr b="1" i="0" lang="en" sz="1500" u="none" cap="none" strike="noStrike">
                <a:solidFill>
                  <a:schemeClr val="dk1"/>
                </a:solidFill>
                <a:highlight>
                  <a:srgbClr val="EBFCFF"/>
                </a:highlight>
                <a:latin typeface="Nunito Sans"/>
                <a:ea typeface="Nunito Sans"/>
                <a:cs typeface="Nunito Sans"/>
                <a:sym typeface="Nunito Sans"/>
              </a:rPr>
              <a:t>Action plan</a:t>
            </a:r>
            <a:endParaRPr b="1" i="0" sz="1500" u="none" cap="none" strike="noStrike">
              <a:solidFill>
                <a:schemeClr val="dk1"/>
              </a:solidFill>
              <a:highlight>
                <a:srgbClr val="EBFCFF"/>
              </a:highlight>
              <a:latin typeface="Nunito Sans"/>
              <a:ea typeface="Nunito Sans"/>
              <a:cs typeface="Nunito Sans"/>
              <a:sym typeface="Nunito Sans"/>
            </a:endParaRPr>
          </a:p>
        </p:txBody>
      </p:sp>
      <p:graphicFrame>
        <p:nvGraphicFramePr>
          <p:cNvPr id="201" name="Google Shape;201;p14"/>
          <p:cNvGraphicFramePr/>
          <p:nvPr/>
        </p:nvGraphicFramePr>
        <p:xfrm>
          <a:off x="677850" y="2246800"/>
          <a:ext cx="3000000" cy="3000000"/>
        </p:xfrm>
        <a:graphic>
          <a:graphicData uri="http://schemas.openxmlformats.org/drawingml/2006/table">
            <a:tbl>
              <a:tblPr bandRow="1">
                <a:noFill/>
                <a:tableStyleId>{C3B1330D-6BD1-4FA4-8FAF-BC396F8A9BD1}</a:tableStyleId>
              </a:tblPr>
              <a:tblGrid>
                <a:gridCol w="638650"/>
                <a:gridCol w="832200"/>
                <a:gridCol w="2330675"/>
                <a:gridCol w="924350"/>
                <a:gridCol w="962400"/>
                <a:gridCol w="2085050"/>
              </a:tblGrid>
              <a:tr h="539175">
                <a:tc>
                  <a:txBody>
                    <a:bodyPr/>
                    <a:lstStyle/>
                    <a:p>
                      <a:pPr indent="0" lvl="0" marL="0" marR="0" rtl="0" algn="l">
                        <a:lnSpc>
                          <a:spcPct val="115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Date</a:t>
                      </a:r>
                      <a:endParaRPr sz="1500" u="none" cap="none" strike="noStrike">
                        <a:latin typeface="Nunito Sans SemiBold"/>
                        <a:ea typeface="Nunito Sans SemiBold"/>
                        <a:cs typeface="Nunito Sans SemiBold"/>
                        <a:sym typeface="Nunito Sans SemiBold"/>
                      </a:endParaRPr>
                    </a:p>
                  </a:txBody>
                  <a:tcPr marT="0" marB="0" marR="68575" marL="68575"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Action</a:t>
                      </a:r>
                      <a:endParaRPr sz="1500" u="none" cap="none" strike="noStrike">
                        <a:latin typeface="Nunito Sans SemiBold"/>
                        <a:ea typeface="Nunito Sans SemiBold"/>
                        <a:cs typeface="Nunito Sans SemiBold"/>
                        <a:sym typeface="Nunito Sans SemiBold"/>
                      </a:endParaRPr>
                    </a:p>
                  </a:txBody>
                  <a:tcPr marT="0" marB="0" marR="68575" marL="68575"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Strategies to help me achieve my goal</a:t>
                      </a:r>
                      <a:endParaRPr sz="1500" u="none" cap="none" strike="noStrike">
                        <a:latin typeface="Nunito Sans SemiBold"/>
                        <a:ea typeface="Nunito Sans SemiBold"/>
                        <a:cs typeface="Nunito Sans SemiBold"/>
                        <a:sym typeface="Nunito Sans SemiBold"/>
                      </a:endParaRPr>
                    </a:p>
                  </a:txBody>
                  <a:tcPr marT="0" marB="0" marR="68575" marL="68575"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Deadline</a:t>
                      </a:r>
                      <a:endParaRPr sz="1500" u="none" cap="none" strike="noStrike">
                        <a:latin typeface="Nunito Sans SemiBold"/>
                        <a:ea typeface="Nunito Sans SemiBold"/>
                        <a:cs typeface="Nunito Sans SemiBold"/>
                        <a:sym typeface="Nunito Sans SemiBold"/>
                      </a:endParaRPr>
                    </a:p>
                  </a:txBody>
                  <a:tcPr marT="0" marB="0" marR="68575" marL="68575"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Evidence</a:t>
                      </a:r>
                      <a:endParaRPr sz="1500" u="none" cap="none" strike="noStrike">
                        <a:latin typeface="Nunito Sans SemiBold"/>
                        <a:ea typeface="Nunito Sans SemiBold"/>
                        <a:cs typeface="Nunito Sans SemiBold"/>
                        <a:sym typeface="Nunito Sans SemiBold"/>
                      </a:endParaRPr>
                    </a:p>
                  </a:txBody>
                  <a:tcPr marT="0" marB="0" marR="68575" marL="68575"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Justification of any changes made</a:t>
                      </a:r>
                      <a:endParaRPr sz="1500" u="none" cap="none" strike="noStrike">
                        <a:latin typeface="Nunito Sans SemiBold"/>
                        <a:ea typeface="Nunito Sans SemiBold"/>
                        <a:cs typeface="Nunito Sans SemiBold"/>
                        <a:sym typeface="Nunito Sans SemiBold"/>
                      </a:endParaRPr>
                    </a:p>
                  </a:txBody>
                  <a:tcPr marT="0" marB="0" marR="68575" marL="68575"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r>
              <a:tr h="2320900">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Calibri"/>
                        <a:ea typeface="Calibri"/>
                        <a:cs typeface="Calibri"/>
                        <a:sym typeface="Calibri"/>
                      </a:endParaRPr>
                    </a:p>
                  </a:txBody>
                  <a:tcPr marT="0" marB="0" marR="68575" marL="68575">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Calibri"/>
                        <a:ea typeface="Calibri"/>
                        <a:cs typeface="Calibri"/>
                        <a:sym typeface="Calibri"/>
                      </a:endParaRPr>
                    </a:p>
                  </a:txBody>
                  <a:tcPr marT="0" marB="0" marR="68575" marL="68575">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Calibri"/>
                        <a:ea typeface="Calibri"/>
                        <a:cs typeface="Calibri"/>
                        <a:sym typeface="Calibri"/>
                      </a:endParaRPr>
                    </a:p>
                  </a:txBody>
                  <a:tcPr marT="0" marB="0" marR="68575" marL="68575">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Calibri"/>
                        <a:ea typeface="Calibri"/>
                        <a:cs typeface="Calibri"/>
                        <a:sym typeface="Calibri"/>
                      </a:endParaRPr>
                    </a:p>
                  </a:txBody>
                  <a:tcPr marT="0" marB="0" marR="68575" marL="68575">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Calibri"/>
                        <a:ea typeface="Calibri"/>
                        <a:cs typeface="Calibri"/>
                        <a:sym typeface="Calibri"/>
                      </a:endParaRPr>
                    </a:p>
                  </a:txBody>
                  <a:tcPr marT="0" marB="0" marR="68575" marL="68575">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Calibri"/>
                        <a:ea typeface="Calibri"/>
                        <a:cs typeface="Calibri"/>
                        <a:sym typeface="Calibri"/>
                      </a:endParaRPr>
                    </a:p>
                  </a:txBody>
                  <a:tcPr marT="0" marB="0" marR="68575" marL="68575">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graphicFrame>
        <p:nvGraphicFramePr>
          <p:cNvPr id="206" name="Google Shape;206;p15"/>
          <p:cNvGraphicFramePr/>
          <p:nvPr/>
        </p:nvGraphicFramePr>
        <p:xfrm>
          <a:off x="680263" y="1932300"/>
          <a:ext cx="3000000" cy="3000000"/>
        </p:xfrm>
        <a:graphic>
          <a:graphicData uri="http://schemas.openxmlformats.org/drawingml/2006/table">
            <a:tbl>
              <a:tblPr>
                <a:noFill/>
                <a:tableStyleId>{45941D38-FAF8-4977-8D50-FB8890D63691}</a:tableStyleId>
              </a:tblPr>
              <a:tblGrid>
                <a:gridCol w="2930225"/>
                <a:gridCol w="3220800"/>
                <a:gridCol w="1630950"/>
              </a:tblGrid>
              <a:tr h="414300">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Task</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Milestones</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Complete</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r>
              <a:tr h="546575">
                <a:tc>
                  <a:txBody>
                    <a:bodyPr/>
                    <a:lstStyle/>
                    <a:p>
                      <a:pPr indent="0" lvl="0" marL="0" marR="0" rtl="0" algn="l">
                        <a:lnSpc>
                          <a:spcPct val="100000"/>
                        </a:lnSpc>
                        <a:spcBef>
                          <a:spcPts val="0"/>
                        </a:spcBef>
                        <a:spcAft>
                          <a:spcPts val="0"/>
                        </a:spcAft>
                        <a:buClr>
                          <a:srgbClr val="000000"/>
                        </a:buClr>
                        <a:buSzPts val="1300"/>
                        <a:buFont typeface="Arial"/>
                        <a:buNone/>
                      </a:pPr>
                      <a:r>
                        <a:rPr i="1" lang="en" sz="1300" u="none" cap="none" strike="noStrike">
                          <a:solidFill>
                            <a:schemeClr val="dk2"/>
                          </a:solidFill>
                          <a:latin typeface="Nunito Sans"/>
                          <a:ea typeface="Nunito Sans"/>
                          <a:cs typeface="Nunito Sans"/>
                          <a:sym typeface="Nunito Sans"/>
                        </a:rPr>
                        <a:t>Describe the main task you want to complete, for example, ‘Create recipe’.</a:t>
                      </a:r>
                      <a:endParaRPr i="1" sz="1300" u="none" cap="none" strike="noStrike">
                        <a:solidFill>
                          <a:schemeClr val="dk2"/>
                        </a:solidFill>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rPr i="1" lang="en" sz="1300" u="none" cap="none" strike="noStrike">
                          <a:solidFill>
                            <a:schemeClr val="dk2"/>
                          </a:solidFill>
                          <a:latin typeface="Nunito Sans"/>
                          <a:ea typeface="Nunito Sans"/>
                          <a:cs typeface="Nunito Sans"/>
                          <a:sym typeface="Nunito Sans"/>
                        </a:rPr>
                        <a:t>Describe the smaller steps you need to do to complete the task, for example, ‘buy ingredients’</a:t>
                      </a:r>
                      <a:endParaRPr i="1" sz="1300" u="none" cap="none" strike="noStrike">
                        <a:solidFill>
                          <a:schemeClr val="dk2"/>
                        </a:solidFill>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409025">
                <a:tc rowSpan="3">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409025">
                <a:tc vMerge="1"/>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409025">
                <a:tc vMerge="1"/>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409025">
                <a:tc rowSpan="3">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409025">
                <a:tc vMerge="1"/>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409025">
                <a:tc vMerge="1"/>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409025">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bl>
          </a:graphicData>
        </a:graphic>
      </p:graphicFrame>
      <p:sp>
        <p:nvSpPr>
          <p:cNvPr id="207" name="Google Shape;207;p15"/>
          <p:cNvSpPr txBox="1"/>
          <p:nvPr/>
        </p:nvSpPr>
        <p:spPr>
          <a:xfrm>
            <a:off x="583550" y="983167"/>
            <a:ext cx="7782000" cy="58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Use this template to lay out the tasks needed to complete your project as well as interim tasks or milestones that can help you to meet your goals. You can tick off the tasks once you’ve completed them. </a:t>
            </a:r>
            <a:endParaRPr b="0" i="0" sz="1200" u="none" cap="none" strike="noStrike">
              <a:solidFill>
                <a:srgbClr val="000000"/>
              </a:solidFill>
              <a:latin typeface="Nunito Sans"/>
              <a:ea typeface="Nunito Sans"/>
              <a:cs typeface="Nunito Sans"/>
              <a:sym typeface="Nunito Sans"/>
            </a:endParaRPr>
          </a:p>
        </p:txBody>
      </p:sp>
      <p:sp>
        <p:nvSpPr>
          <p:cNvPr id="208" name="Google Shape;208;p15"/>
          <p:cNvSpPr txBox="1"/>
          <p:nvPr/>
        </p:nvSpPr>
        <p:spPr>
          <a:xfrm>
            <a:off x="583550" y="512633"/>
            <a:ext cx="3000000" cy="404100"/>
          </a:xfrm>
          <a:prstGeom prst="rect">
            <a:avLst/>
          </a:prstGeom>
          <a:noFill/>
          <a:ln>
            <a:noFill/>
          </a:ln>
        </p:spPr>
        <p:txBody>
          <a:bodyPr anchorCtr="0" anchor="t" bIns="91425" lIns="91425" spcFirstLastPara="1" rIns="91425" wrap="square" tIns="91425">
            <a:spAutoFit/>
          </a:bodyPr>
          <a:lstStyle/>
          <a:p>
            <a:pPr indent="0" lvl="0" marL="0" marR="0" rtl="0" algn="l">
              <a:lnSpc>
                <a:spcPct val="95000"/>
              </a:lnSpc>
              <a:spcBef>
                <a:spcPts val="0"/>
              </a:spcBef>
              <a:spcAft>
                <a:spcPts val="0"/>
              </a:spcAft>
              <a:buClr>
                <a:srgbClr val="000000"/>
              </a:buClr>
              <a:buSzPts val="1500"/>
              <a:buFont typeface="Arial"/>
              <a:buNone/>
            </a:pPr>
            <a:r>
              <a:rPr b="1" i="0" lang="en" sz="1500" u="none" cap="none" strike="noStrike">
                <a:solidFill>
                  <a:schemeClr val="dk1"/>
                </a:solidFill>
                <a:highlight>
                  <a:srgbClr val="EBFCFF"/>
                </a:highlight>
                <a:latin typeface="Nunito Sans"/>
                <a:ea typeface="Nunito Sans"/>
                <a:cs typeface="Nunito Sans"/>
                <a:sym typeface="Nunito Sans"/>
              </a:rPr>
              <a:t>Tasks and milestones</a:t>
            </a:r>
            <a:endParaRPr b="1" i="0" sz="1500" u="none" cap="none" strike="noStrike">
              <a:solidFill>
                <a:schemeClr val="dk1"/>
              </a:solidFill>
              <a:highlight>
                <a:srgbClr val="EBFCFF"/>
              </a:highlight>
              <a:latin typeface="Nunito Sans"/>
              <a:ea typeface="Nunito Sans"/>
              <a:cs typeface="Nunito Sans"/>
              <a:sym typeface="Nunito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graphicFrame>
        <p:nvGraphicFramePr>
          <p:cNvPr id="213" name="Google Shape;213;p16"/>
          <p:cNvGraphicFramePr/>
          <p:nvPr/>
        </p:nvGraphicFramePr>
        <p:xfrm>
          <a:off x="680250" y="1932300"/>
          <a:ext cx="3000000" cy="3000000"/>
        </p:xfrm>
        <a:graphic>
          <a:graphicData uri="http://schemas.openxmlformats.org/drawingml/2006/table">
            <a:tbl>
              <a:tblPr>
                <a:noFill/>
                <a:tableStyleId>{45941D38-FAF8-4977-8D50-FB8890D63691}</a:tableStyleId>
              </a:tblPr>
              <a:tblGrid>
                <a:gridCol w="576800"/>
                <a:gridCol w="2914825"/>
                <a:gridCol w="1178625"/>
                <a:gridCol w="398775"/>
                <a:gridCol w="398775"/>
                <a:gridCol w="382850"/>
                <a:gridCol w="407650"/>
                <a:gridCol w="382850"/>
                <a:gridCol w="382850"/>
                <a:gridCol w="382850"/>
                <a:gridCol w="382850"/>
              </a:tblGrid>
              <a:tr h="450900">
                <a:tc gridSpan="11">
                  <a:txBody>
                    <a:bodyPr/>
                    <a:lstStyle/>
                    <a:p>
                      <a:pPr indent="0" lvl="0" marL="0" marR="0" rtl="0" algn="l">
                        <a:lnSpc>
                          <a:spcPct val="115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Personal Project GANTT Chart</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hMerge="1"/>
                <a:tc hMerge="1"/>
                <a:tc hMerge="1"/>
                <a:tc hMerge="1"/>
                <a:tc hMerge="1"/>
                <a:tc hMerge="1"/>
                <a:tc hMerge="1"/>
                <a:tc hMerge="1"/>
                <a:tc hMerge="1"/>
                <a:tc hMerge="1"/>
              </a:tr>
              <a:tr h="461600">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Step</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Description</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Resources</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Aug</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Sep</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Oct</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Nov</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Dec</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Jan</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Feb</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Mar</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r>
              <a:tr h="389400">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a:ea typeface="Nunito"/>
                          <a:cs typeface="Nunito"/>
                          <a:sym typeface="Nunito"/>
                        </a:rPr>
                        <a:t>1</a:t>
                      </a:r>
                      <a:endParaRPr sz="1300" u="none" cap="none" strike="noStrike">
                        <a:latin typeface="Nunito"/>
                        <a:ea typeface="Nunito"/>
                        <a:cs typeface="Nunito"/>
                        <a:sym typeface="Nunito"/>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389400">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a:ea typeface="Nunito"/>
                          <a:cs typeface="Nunito"/>
                          <a:sym typeface="Nunito"/>
                        </a:rPr>
                        <a:t>2</a:t>
                      </a:r>
                      <a:endParaRPr sz="1300" u="none" cap="none" strike="noStrike">
                        <a:latin typeface="Nunito"/>
                        <a:ea typeface="Nunito"/>
                        <a:cs typeface="Nunito"/>
                        <a:sym typeface="Nunito"/>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389400">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a:ea typeface="Nunito"/>
                          <a:cs typeface="Nunito"/>
                          <a:sym typeface="Nunito"/>
                        </a:rPr>
                        <a:t>3</a:t>
                      </a:r>
                      <a:endParaRPr sz="1300" u="none" cap="none" strike="noStrike">
                        <a:latin typeface="Nunito"/>
                        <a:ea typeface="Nunito"/>
                        <a:cs typeface="Nunito"/>
                        <a:sym typeface="Nunito"/>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389400">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a:ea typeface="Nunito"/>
                          <a:cs typeface="Nunito"/>
                          <a:sym typeface="Nunito"/>
                        </a:rPr>
                        <a:t>4</a:t>
                      </a:r>
                      <a:endParaRPr sz="1300" u="none" cap="none" strike="noStrike">
                        <a:latin typeface="Nunito"/>
                        <a:ea typeface="Nunito"/>
                        <a:cs typeface="Nunito"/>
                        <a:sym typeface="Nunito"/>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389400">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a:ea typeface="Nunito"/>
                          <a:cs typeface="Nunito"/>
                          <a:sym typeface="Nunito"/>
                        </a:rPr>
                        <a:t>5</a:t>
                      </a:r>
                      <a:endParaRPr sz="1300" u="none" cap="none" strike="noStrike">
                        <a:latin typeface="Nunito"/>
                        <a:ea typeface="Nunito"/>
                        <a:cs typeface="Nunito"/>
                        <a:sym typeface="Nunito"/>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389400">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a:ea typeface="Nunito"/>
                          <a:cs typeface="Nunito"/>
                          <a:sym typeface="Nunito"/>
                        </a:rPr>
                        <a:t>6</a:t>
                      </a:r>
                      <a:endParaRPr sz="1300" u="none" cap="none" strike="noStrike">
                        <a:latin typeface="Nunito"/>
                        <a:ea typeface="Nunito"/>
                        <a:cs typeface="Nunito"/>
                        <a:sym typeface="Nunito"/>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389400">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a:ea typeface="Nunito"/>
                          <a:cs typeface="Nunito"/>
                          <a:sym typeface="Nunito"/>
                        </a:rPr>
                        <a:t>7</a:t>
                      </a:r>
                      <a:endParaRPr sz="1300" u="none" cap="none" strike="noStrike">
                        <a:latin typeface="Nunito"/>
                        <a:ea typeface="Nunito"/>
                        <a:cs typeface="Nunito"/>
                        <a:sym typeface="Nunito"/>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bl>
          </a:graphicData>
        </a:graphic>
      </p:graphicFrame>
      <p:sp>
        <p:nvSpPr>
          <p:cNvPr id="214" name="Google Shape;214;p16"/>
          <p:cNvSpPr txBox="1"/>
          <p:nvPr/>
        </p:nvSpPr>
        <p:spPr>
          <a:xfrm>
            <a:off x="583550" y="1000000"/>
            <a:ext cx="7782000" cy="58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Use this GANTT chart to lay out the steps you will take to complete your project. Include the resources that you might need and the approximate dates that you will begin and complete each step. </a:t>
            </a:r>
            <a:endParaRPr b="0" i="0" sz="1200" u="none" cap="none" strike="noStrike">
              <a:solidFill>
                <a:schemeClr val="dk1"/>
              </a:solidFill>
              <a:latin typeface="Nunito Sans"/>
              <a:ea typeface="Nunito Sans"/>
              <a:cs typeface="Nunito Sans"/>
              <a:sym typeface="Nunito Sans"/>
            </a:endParaRPr>
          </a:p>
        </p:txBody>
      </p:sp>
      <p:sp>
        <p:nvSpPr>
          <p:cNvPr id="215" name="Google Shape;215;p16"/>
          <p:cNvSpPr txBox="1"/>
          <p:nvPr/>
        </p:nvSpPr>
        <p:spPr>
          <a:xfrm>
            <a:off x="583550" y="529467"/>
            <a:ext cx="3000000" cy="404100"/>
          </a:xfrm>
          <a:prstGeom prst="rect">
            <a:avLst/>
          </a:prstGeom>
          <a:noFill/>
          <a:ln>
            <a:noFill/>
          </a:ln>
        </p:spPr>
        <p:txBody>
          <a:bodyPr anchorCtr="0" anchor="t" bIns="91425" lIns="91425" spcFirstLastPara="1" rIns="91425" wrap="square" tIns="91425">
            <a:spAutoFit/>
          </a:bodyPr>
          <a:lstStyle/>
          <a:p>
            <a:pPr indent="0" lvl="0" marL="0" marR="0" rtl="0" algn="l">
              <a:lnSpc>
                <a:spcPct val="95000"/>
              </a:lnSpc>
              <a:spcBef>
                <a:spcPts val="0"/>
              </a:spcBef>
              <a:spcAft>
                <a:spcPts val="0"/>
              </a:spcAft>
              <a:buClr>
                <a:srgbClr val="000000"/>
              </a:buClr>
              <a:buSzPts val="1500"/>
              <a:buFont typeface="Arial"/>
              <a:buNone/>
            </a:pPr>
            <a:r>
              <a:rPr b="1" i="0" lang="en" sz="1500" u="none" cap="none" strike="noStrike">
                <a:solidFill>
                  <a:schemeClr val="dk1"/>
                </a:solidFill>
                <a:highlight>
                  <a:srgbClr val="EBFCFF"/>
                </a:highlight>
                <a:latin typeface="Nunito Sans"/>
                <a:ea typeface="Nunito Sans"/>
                <a:cs typeface="Nunito Sans"/>
                <a:sym typeface="Nunito Sans"/>
              </a:rPr>
              <a:t>GANTT chart</a:t>
            </a:r>
            <a:endParaRPr b="1" i="0" sz="1500" u="none" cap="none" strike="noStrike">
              <a:solidFill>
                <a:schemeClr val="dk1"/>
              </a:solidFill>
              <a:highlight>
                <a:srgbClr val="EBFCFF"/>
              </a:highlight>
              <a:latin typeface="Nunito Sans"/>
              <a:ea typeface="Nunito Sans"/>
              <a:cs typeface="Nunito Sans"/>
              <a:sym typeface="Nunito Sans"/>
            </a:endParaRPr>
          </a:p>
        </p:txBody>
      </p:sp>
      <p:graphicFrame>
        <p:nvGraphicFramePr>
          <p:cNvPr id="216" name="Google Shape;216;p16"/>
          <p:cNvGraphicFramePr/>
          <p:nvPr/>
        </p:nvGraphicFramePr>
        <p:xfrm>
          <a:off x="680250" y="7975000"/>
          <a:ext cx="3000000" cy="3000000"/>
        </p:xfrm>
        <a:graphic>
          <a:graphicData uri="http://schemas.openxmlformats.org/drawingml/2006/table">
            <a:tbl>
              <a:tblPr>
                <a:noFill/>
                <a:tableStyleId>{45941D38-FAF8-4977-8D50-FB8890D63691}</a:tableStyleId>
              </a:tblPr>
              <a:tblGrid>
                <a:gridCol w="576800"/>
                <a:gridCol w="2914825"/>
                <a:gridCol w="1178625"/>
                <a:gridCol w="398775"/>
                <a:gridCol w="398775"/>
                <a:gridCol w="382850"/>
                <a:gridCol w="407650"/>
                <a:gridCol w="382850"/>
                <a:gridCol w="382850"/>
                <a:gridCol w="382850"/>
                <a:gridCol w="382850"/>
              </a:tblGrid>
              <a:tr h="303000">
                <a:tc gridSpan="11">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Personal Project GANTT Chart</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c hMerge="1"/>
                <a:tc hMerge="1"/>
                <a:tc hMerge="1"/>
                <a:tc hMerge="1"/>
                <a:tc hMerge="1"/>
                <a:tc hMerge="1"/>
                <a:tc hMerge="1"/>
                <a:tc hMerge="1"/>
                <a:tc hMerge="1"/>
              </a:tr>
              <a:tr h="477075">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Step</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Description</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Resources</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Sans"/>
                          <a:ea typeface="Nunito Sans"/>
                          <a:cs typeface="Nunito Sans"/>
                          <a:sym typeface="Nunito Sans"/>
                        </a:rPr>
                        <a:t>Aug</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Sans"/>
                          <a:ea typeface="Nunito Sans"/>
                          <a:cs typeface="Nunito Sans"/>
                          <a:sym typeface="Nunito Sans"/>
                        </a:rPr>
                        <a:t>Sep</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Sans"/>
                          <a:ea typeface="Nunito Sans"/>
                          <a:cs typeface="Nunito Sans"/>
                          <a:sym typeface="Nunito Sans"/>
                        </a:rPr>
                        <a:t>Oct</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Sans"/>
                          <a:ea typeface="Nunito Sans"/>
                          <a:cs typeface="Nunito Sans"/>
                          <a:sym typeface="Nunito Sans"/>
                        </a:rPr>
                        <a:t>Nov</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Sans"/>
                          <a:ea typeface="Nunito Sans"/>
                          <a:cs typeface="Nunito Sans"/>
                          <a:sym typeface="Nunito Sans"/>
                        </a:rPr>
                        <a:t>Dec</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Sans"/>
                          <a:ea typeface="Nunito Sans"/>
                          <a:cs typeface="Nunito Sans"/>
                          <a:sym typeface="Nunito Sans"/>
                        </a:rPr>
                        <a:t>Jan</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Sans"/>
                          <a:ea typeface="Nunito Sans"/>
                          <a:cs typeface="Nunito Sans"/>
                          <a:sym typeface="Nunito Sans"/>
                        </a:rPr>
                        <a:t>Feb</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Sans"/>
                          <a:ea typeface="Nunito Sans"/>
                          <a:cs typeface="Nunito Sans"/>
                          <a:sym typeface="Nunito Sans"/>
                        </a:rPr>
                        <a:t>Mar</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00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a:ea typeface="Nunito"/>
                          <a:cs typeface="Nunito"/>
                          <a:sym typeface="Nunito"/>
                        </a:rPr>
                        <a:t>1</a:t>
                      </a:r>
                      <a:endParaRPr sz="1500" u="none" cap="none" strike="noStrike">
                        <a:latin typeface="Nunito"/>
                        <a:ea typeface="Nunito"/>
                        <a:cs typeface="Nunito"/>
                        <a:sym typeface="Nunito"/>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00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a:ea typeface="Nunito"/>
                          <a:cs typeface="Nunito"/>
                          <a:sym typeface="Nunito"/>
                        </a:rPr>
                        <a:t>2</a:t>
                      </a:r>
                      <a:endParaRPr sz="1500" u="none" cap="none" strike="noStrike">
                        <a:latin typeface="Nunito"/>
                        <a:ea typeface="Nunito"/>
                        <a:cs typeface="Nunito"/>
                        <a:sym typeface="Nunito"/>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00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a:ea typeface="Nunito"/>
                          <a:cs typeface="Nunito"/>
                          <a:sym typeface="Nunito"/>
                        </a:rPr>
                        <a:t>3</a:t>
                      </a:r>
                      <a:endParaRPr sz="1500" u="none" cap="none" strike="noStrike">
                        <a:latin typeface="Nunito"/>
                        <a:ea typeface="Nunito"/>
                        <a:cs typeface="Nunito"/>
                        <a:sym typeface="Nunito"/>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00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a:ea typeface="Nunito"/>
                          <a:cs typeface="Nunito"/>
                          <a:sym typeface="Nunito"/>
                        </a:rPr>
                        <a:t>4</a:t>
                      </a:r>
                      <a:endParaRPr sz="1500" u="none" cap="none" strike="noStrike">
                        <a:latin typeface="Nunito"/>
                        <a:ea typeface="Nunito"/>
                        <a:cs typeface="Nunito"/>
                        <a:sym typeface="Nunito"/>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00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a:ea typeface="Nunito"/>
                          <a:cs typeface="Nunito"/>
                          <a:sym typeface="Nunito"/>
                        </a:rPr>
                        <a:t>5</a:t>
                      </a:r>
                      <a:endParaRPr sz="1500" u="none" cap="none" strike="noStrike">
                        <a:latin typeface="Nunito"/>
                        <a:ea typeface="Nunito"/>
                        <a:cs typeface="Nunito"/>
                        <a:sym typeface="Nunito"/>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00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a:ea typeface="Nunito"/>
                          <a:cs typeface="Nunito"/>
                          <a:sym typeface="Nunito"/>
                        </a:rPr>
                        <a:t>6</a:t>
                      </a:r>
                      <a:endParaRPr sz="1500" u="none" cap="none" strike="noStrike">
                        <a:latin typeface="Nunito"/>
                        <a:ea typeface="Nunito"/>
                        <a:cs typeface="Nunito"/>
                        <a:sym typeface="Nunito"/>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00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a:ea typeface="Nunito"/>
                          <a:cs typeface="Nunito"/>
                          <a:sym typeface="Nunito"/>
                        </a:rPr>
                        <a:t>7</a:t>
                      </a:r>
                      <a:endParaRPr sz="1500" u="none" cap="none" strike="noStrike">
                        <a:latin typeface="Nunito"/>
                        <a:ea typeface="Nunito"/>
                        <a:cs typeface="Nunito"/>
                        <a:sym typeface="Nunito"/>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00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a:ea typeface="Nunito"/>
                          <a:cs typeface="Nunito"/>
                          <a:sym typeface="Nunito"/>
                        </a:rPr>
                        <a:t>8</a:t>
                      </a:r>
                      <a:endParaRPr sz="1500" u="none" cap="none" strike="noStrike">
                        <a:latin typeface="Nunito"/>
                        <a:ea typeface="Nunito"/>
                        <a:cs typeface="Nunito"/>
                        <a:sym typeface="Nunito"/>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00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a:ea typeface="Nunito"/>
                          <a:cs typeface="Nunito"/>
                          <a:sym typeface="Nunito"/>
                        </a:rPr>
                        <a:t>9</a:t>
                      </a:r>
                      <a:endParaRPr sz="1500" u="none" cap="none" strike="noStrike">
                        <a:latin typeface="Nunito"/>
                        <a:ea typeface="Nunito"/>
                        <a:cs typeface="Nunito"/>
                        <a:sym typeface="Nunito"/>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00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a:ea typeface="Nunito"/>
                          <a:cs typeface="Nunito"/>
                          <a:sym typeface="Nunito"/>
                        </a:rPr>
                        <a:t>10</a:t>
                      </a:r>
                      <a:endParaRPr sz="1500" u="none" cap="none" strike="noStrike">
                        <a:latin typeface="Nunito"/>
                        <a:ea typeface="Nunito"/>
                        <a:cs typeface="Nunito"/>
                        <a:sym typeface="Nunito"/>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graphicFrame>
        <p:nvGraphicFramePr>
          <p:cNvPr id="221" name="Google Shape;221;p17"/>
          <p:cNvGraphicFramePr/>
          <p:nvPr/>
        </p:nvGraphicFramePr>
        <p:xfrm>
          <a:off x="680150" y="2260500"/>
          <a:ext cx="3000000" cy="3000000"/>
        </p:xfrm>
        <a:graphic>
          <a:graphicData uri="http://schemas.openxmlformats.org/drawingml/2006/table">
            <a:tbl>
              <a:tblPr>
                <a:noFill/>
                <a:tableStyleId>{45941D38-FAF8-4977-8D50-FB8890D63691}</a:tableStyleId>
              </a:tblPr>
              <a:tblGrid>
                <a:gridCol w="2271850"/>
                <a:gridCol w="1052575"/>
                <a:gridCol w="1078750"/>
                <a:gridCol w="1186100"/>
                <a:gridCol w="2175000"/>
              </a:tblGrid>
              <a:tr h="355600">
                <a:tc gridSpan="5">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Personal Project Action Plan</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hMerge="1"/>
                <a:tc hMerge="1"/>
                <a:tc hMerge="1"/>
                <a:tc hMerge="1"/>
              </a:tr>
              <a:tr h="40607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Action item</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Status</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Due date</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Date complete</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Comments</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r>
              <a:tr h="392875">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392875">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392875">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392875">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392875">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392875">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392875">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bl>
          </a:graphicData>
        </a:graphic>
      </p:graphicFrame>
      <p:sp>
        <p:nvSpPr>
          <p:cNvPr id="222" name="Google Shape;222;p17"/>
          <p:cNvSpPr txBox="1"/>
          <p:nvPr/>
        </p:nvSpPr>
        <p:spPr>
          <a:xfrm>
            <a:off x="588675" y="1019333"/>
            <a:ext cx="7764300" cy="794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Use this chart to lay out the actions you will take to complete your project. You can include the current status of each item and the due dates that you set. Once you’ve filled in the completion date, it’s a good idea to add any comments that you have about the process.  </a:t>
            </a:r>
            <a:endParaRPr b="0" i="0" sz="1200" u="none" cap="none" strike="noStrike">
              <a:solidFill>
                <a:srgbClr val="000000"/>
              </a:solidFill>
              <a:latin typeface="Nunito Sans"/>
              <a:ea typeface="Nunito Sans"/>
              <a:cs typeface="Nunito Sans"/>
              <a:sym typeface="Nunito Sans"/>
            </a:endParaRPr>
          </a:p>
        </p:txBody>
      </p:sp>
      <p:sp>
        <p:nvSpPr>
          <p:cNvPr id="223" name="Google Shape;223;p17"/>
          <p:cNvSpPr txBox="1"/>
          <p:nvPr/>
        </p:nvSpPr>
        <p:spPr>
          <a:xfrm>
            <a:off x="588675" y="548800"/>
            <a:ext cx="3000000" cy="404100"/>
          </a:xfrm>
          <a:prstGeom prst="rect">
            <a:avLst/>
          </a:prstGeom>
          <a:noFill/>
          <a:ln>
            <a:noFill/>
          </a:ln>
        </p:spPr>
        <p:txBody>
          <a:bodyPr anchorCtr="0" anchor="t" bIns="91425" lIns="91425" spcFirstLastPara="1" rIns="91425" wrap="square" tIns="91425">
            <a:spAutoFit/>
          </a:bodyPr>
          <a:lstStyle/>
          <a:p>
            <a:pPr indent="0" lvl="0" marL="0" marR="0" rtl="0" algn="l">
              <a:lnSpc>
                <a:spcPct val="95000"/>
              </a:lnSpc>
              <a:spcBef>
                <a:spcPts val="0"/>
              </a:spcBef>
              <a:spcAft>
                <a:spcPts val="0"/>
              </a:spcAft>
              <a:buClr>
                <a:srgbClr val="000000"/>
              </a:buClr>
              <a:buSzPts val="1500"/>
              <a:buFont typeface="Arial"/>
              <a:buNone/>
            </a:pPr>
            <a:r>
              <a:rPr b="1" i="0" lang="en" sz="1500" u="none" cap="none" strike="noStrike">
                <a:solidFill>
                  <a:schemeClr val="dk1"/>
                </a:solidFill>
                <a:highlight>
                  <a:srgbClr val="EBFCFF"/>
                </a:highlight>
                <a:latin typeface="Nunito Sans"/>
                <a:ea typeface="Nunito Sans"/>
                <a:cs typeface="Nunito Sans"/>
                <a:sym typeface="Nunito Sans"/>
              </a:rPr>
              <a:t>Action plan</a:t>
            </a:r>
            <a:endParaRPr b="1" i="0" sz="1500" u="none" cap="none" strike="noStrike">
              <a:solidFill>
                <a:schemeClr val="dk1"/>
              </a:solidFill>
              <a:highlight>
                <a:srgbClr val="EBFCFF"/>
              </a:highlight>
              <a:latin typeface="Nunito Sans"/>
              <a:ea typeface="Nunito Sans"/>
              <a:cs typeface="Nunito Sans"/>
              <a:sym typeface="Nunito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graphicFrame>
        <p:nvGraphicFramePr>
          <p:cNvPr id="228" name="Google Shape;228;p18"/>
          <p:cNvGraphicFramePr/>
          <p:nvPr/>
        </p:nvGraphicFramePr>
        <p:xfrm>
          <a:off x="680263" y="2239967"/>
          <a:ext cx="3000000" cy="3000000"/>
        </p:xfrm>
        <a:graphic>
          <a:graphicData uri="http://schemas.openxmlformats.org/drawingml/2006/table">
            <a:tbl>
              <a:tblPr>
                <a:noFill/>
                <a:tableStyleId>{45941D38-FAF8-4977-8D50-FB8890D63691}</a:tableStyleId>
              </a:tblPr>
              <a:tblGrid>
                <a:gridCol w="684525"/>
                <a:gridCol w="2269750"/>
                <a:gridCol w="1098850"/>
                <a:gridCol w="1278975"/>
                <a:gridCol w="945725"/>
                <a:gridCol w="1504150"/>
              </a:tblGrid>
              <a:tr h="450675">
                <a:tc gridSpan="6">
                  <a:txBody>
                    <a:bodyPr/>
                    <a:lstStyle/>
                    <a:p>
                      <a:pPr indent="0" lvl="0" marL="0" marR="0" rtl="0" algn="l">
                        <a:lnSpc>
                          <a:spcPct val="115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Personal project action plan</a:t>
                      </a:r>
                      <a:endParaRPr sz="15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hMerge="1"/>
                <a:tc hMerge="1"/>
                <a:tc hMerge="1"/>
                <a:tc hMerge="1"/>
                <a:tc hMerge="1"/>
              </a:tr>
              <a:tr h="431625">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Number</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Task</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Purpose</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Time and place</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Resources</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Indicator of success</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r>
              <a:tr h="431625">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431625">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2</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431625">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3</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431625">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4</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431625">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5</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431625">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6</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bl>
          </a:graphicData>
        </a:graphic>
      </p:graphicFrame>
      <p:sp>
        <p:nvSpPr>
          <p:cNvPr id="229" name="Google Shape;229;p18"/>
          <p:cNvSpPr txBox="1"/>
          <p:nvPr/>
        </p:nvSpPr>
        <p:spPr>
          <a:xfrm>
            <a:off x="583550" y="998833"/>
            <a:ext cx="7782000" cy="794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Use this chart to lay out the task that you need to complete for the personal project. You can indicate the purpose of each task (linked to your product or the assessment criteria). Include the resources that you might need and the indicators that you will see when you have been successful. </a:t>
            </a:r>
            <a:endParaRPr b="0" i="0" sz="1200" u="none" cap="none" strike="noStrike">
              <a:solidFill>
                <a:schemeClr val="dk1"/>
              </a:solidFill>
              <a:latin typeface="Nunito Sans"/>
              <a:ea typeface="Nunito Sans"/>
              <a:cs typeface="Nunito Sans"/>
              <a:sym typeface="Nunito Sans"/>
            </a:endParaRPr>
          </a:p>
        </p:txBody>
      </p:sp>
      <p:sp>
        <p:nvSpPr>
          <p:cNvPr id="230" name="Google Shape;230;p18"/>
          <p:cNvSpPr txBox="1"/>
          <p:nvPr/>
        </p:nvSpPr>
        <p:spPr>
          <a:xfrm>
            <a:off x="583550" y="514633"/>
            <a:ext cx="3000000" cy="404100"/>
          </a:xfrm>
          <a:prstGeom prst="rect">
            <a:avLst/>
          </a:prstGeom>
          <a:noFill/>
          <a:ln>
            <a:noFill/>
          </a:ln>
        </p:spPr>
        <p:txBody>
          <a:bodyPr anchorCtr="0" anchor="t" bIns="91425" lIns="91425" spcFirstLastPara="1" rIns="91425" wrap="square" tIns="91425">
            <a:spAutoFit/>
          </a:bodyPr>
          <a:lstStyle/>
          <a:p>
            <a:pPr indent="0" lvl="0" marL="0" marR="0" rtl="0" algn="l">
              <a:lnSpc>
                <a:spcPct val="95000"/>
              </a:lnSpc>
              <a:spcBef>
                <a:spcPts val="0"/>
              </a:spcBef>
              <a:spcAft>
                <a:spcPts val="0"/>
              </a:spcAft>
              <a:buClr>
                <a:srgbClr val="000000"/>
              </a:buClr>
              <a:buSzPts val="1500"/>
              <a:buFont typeface="Arial"/>
              <a:buNone/>
            </a:pPr>
            <a:r>
              <a:rPr b="1" i="0" lang="en" sz="1500" u="none" cap="none" strike="noStrike">
                <a:solidFill>
                  <a:schemeClr val="dk1"/>
                </a:solidFill>
                <a:highlight>
                  <a:srgbClr val="EBFCFF"/>
                </a:highlight>
                <a:latin typeface="Nunito Sans"/>
                <a:ea typeface="Nunito Sans"/>
                <a:cs typeface="Nunito Sans"/>
                <a:sym typeface="Nunito Sans"/>
              </a:rPr>
              <a:t>Action plan</a:t>
            </a:r>
            <a:endParaRPr b="1" i="0" sz="1500" u="none" cap="none" strike="noStrike">
              <a:solidFill>
                <a:schemeClr val="dk1"/>
              </a:solidFill>
              <a:highlight>
                <a:srgbClr val="EBFCFF"/>
              </a:highlight>
              <a:latin typeface="Nunito Sans"/>
              <a:ea typeface="Nunito Sans"/>
              <a:cs typeface="Nunito Sans"/>
              <a:sym typeface="Nunito Sans"/>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