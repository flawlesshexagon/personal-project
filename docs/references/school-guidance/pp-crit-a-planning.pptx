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5707826a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note that the product may be a tangible artifact such as a sculpture, film, story or model, or it could be a non-tangible result such as an awareness-raising campaign, learning to play a new piece of music or improving athletic performance. </a:t>
            </a:r>
            <a:endParaRPr/>
          </a:p>
        </p:txBody>
      </p:sp>
      <p:sp>
        <p:nvSpPr>
          <p:cNvPr id="64" name="Google Shape;64;g3f85707826a_0_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5707826a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f85707826a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f85707826a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7b5d2c510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7b5d2c51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7b5d2c510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7b5d2c51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7c02214f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7c02214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7c02214ff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7c02214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7c02214ff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7c02214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7c02214ff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7c02214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7b5d2c510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7b5d2c51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2f009eb09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2f009eb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9e0dbbd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9e0dbb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9e0dbbd7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f9e0dbb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5707826a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85707826a_0_10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5707826a_0_1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85707826a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supporting evidence could include: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list and/or diagram of interests and related learning goals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list of possible strategies to achieve personal and academic goals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diagram showing the connections between the learning goal and the product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series of steps leading to the completion of the product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timeline for completing short- and long-term tasks.</a:t>
            </a:r>
            <a:endParaRPr/>
          </a:p>
        </p:txBody>
      </p:sp>
      <p:sp>
        <p:nvSpPr>
          <p:cNvPr id="174" name="Google Shape;174;g3f85707826a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56000" y="324000"/>
            <a:ext cx="78840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56000" y="1440000"/>
            <a:ext cx="7884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560000" y="6516000"/>
            <a:ext cx="82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7200000" y="6660000"/>
            <a:ext cx="144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388000" y="6516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icsz.libguides.com/c.php?g=721995&amp;p=5248418" TargetMode="External"/><Relationship Id="rId5" Type="http://schemas.openxmlformats.org/officeDocument/2006/relationships/hyperlink" Target="https://icsz.libguides.com/c.php?g=721995&amp;p=5248418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icsz.libguides.com/c.php?g=721995&amp;p=5248418" TargetMode="External"/><Relationship Id="rId5" Type="http://schemas.openxmlformats.org/officeDocument/2006/relationships/hyperlink" Target="https://icsz.libguides.com/c.php?g=721995&amp;p=5248418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icsz.libguides.com/c.php?g=721995&amp;p=5248418" TargetMode="External"/><Relationship Id="rId5" Type="http://schemas.openxmlformats.org/officeDocument/2006/relationships/hyperlink" Target="https://icsz.libguides.com/c.php?g=721995&amp;p=524841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79450" y="457200"/>
            <a:ext cx="8585100" cy="3201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Criteria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 A: Planning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Students should be able to: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i. state a learning goal for the project and explain how a personal interest led to that goal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ii. state an intended product and develop appropriate success criteria for the product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iii. present a clear, detailed plan for achieving the product and its associated success criteria.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94225" y="209700"/>
            <a:ext cx="8219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Open San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Open Sans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Criterion A: Setting a goal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424698" y="2571839"/>
            <a:ext cx="7958755" cy="2251607"/>
            <a:chOff x="4398" y="1131659"/>
            <a:chExt cx="7958755" cy="2251607"/>
          </a:xfrm>
        </p:grpSpPr>
        <p:sp>
          <p:nvSpPr>
            <p:cNvPr id="68" name="Google Shape;68;p15"/>
            <p:cNvSpPr/>
            <p:nvPr/>
          </p:nvSpPr>
          <p:spPr>
            <a:xfrm>
              <a:off x="4398" y="1508429"/>
              <a:ext cx="2094300" cy="149790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48273" y="1552304"/>
              <a:ext cx="2006700" cy="14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goal consists of </a:t>
              </a:r>
              <a:r>
                <a:rPr b="1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two interrelated components.</a:t>
              </a:r>
              <a:endPara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 rot="-2142021">
              <a:off x="2001865" y="1935518"/>
              <a:ext cx="1031795" cy="4171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rgbClr val="00B4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 rot="-2132261">
              <a:off x="2491931" y="1930649"/>
              <a:ext cx="51614" cy="516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2936626" y="1131659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rgbClr val="00B4C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2967298" y="1162331"/>
              <a:ext cx="20331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goal 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031073" y="1634395"/>
              <a:ext cx="837900" cy="4170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5429019" y="1634326"/>
              <a:ext cx="42000" cy="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868853" y="1131659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5899525" y="1162331"/>
              <a:ext cx="2033100" cy="9858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do you want to learn about?</a:t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 rot="2142021">
              <a:off x="2001933" y="2537619"/>
              <a:ext cx="1031795" cy="4171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rgbClr val="00B4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 rot="2132261">
              <a:off x="2492038" y="2532696"/>
              <a:ext cx="51614" cy="516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936626" y="2335966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rgbClr val="00B4C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2967298" y="2366638"/>
              <a:ext cx="20331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Product goal</a:t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5031073" y="2838703"/>
              <a:ext cx="837900" cy="4170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5429019" y="2838634"/>
              <a:ext cx="42000" cy="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5868853" y="2335966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5899525" y="2366638"/>
              <a:ext cx="2033100" cy="9858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do you want to create?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-107400" y="3774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Learning goal ↔ Product goal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75" y="1548648"/>
            <a:ext cx="8354249" cy="441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282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Task: 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536628"/>
            <a:ext cx="8520600" cy="27432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Write your learning goal and product goal in Toddle</a:t>
            </a:r>
            <a:endParaRPr sz="1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Complete the section (under title and learning goal) </a:t>
            </a:r>
            <a:r>
              <a:rPr b="1"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‘</a:t>
            </a:r>
            <a:r>
              <a:rPr b="1"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is the inspiration behind your personal project?’ </a:t>
            </a:r>
            <a:r>
              <a:rPr i="1"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</a:t>
            </a:r>
            <a:r>
              <a:rPr i="1" lang="en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i. state a learning goal for the project and explain how a personal interest led to that goal)</a:t>
            </a:r>
            <a:endParaRPr sz="1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593400"/>
            <a:ext cx="8520600" cy="29118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Success Criteria for product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- Due October 8th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Success criteria are a list of specifications that your product needs to have to be successful. Template ideas have been uploaded to Toddle to 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help you </a:t>
            </a:r>
            <a:r>
              <a:rPr b="1" lang="en" sz="1900">
                <a:latin typeface="Montserrat"/>
                <a:ea typeface="Montserrat"/>
                <a:cs typeface="Montserrat"/>
                <a:sym typeface="Montserrat"/>
              </a:rPr>
              <a:t>develop appropriate success criteria for your product. 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Make sure you are adjusting the success criteria templates to make it relevant to your product. You can also create your own original template.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593400"/>
            <a:ext cx="8520600" cy="40140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Success Criteria: 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In order to set your personal project goal in motion, it is important to have detailed success criteria for how you will create your product.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You should: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Develop criteria that are specific, rigorous, realistic, testable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Develop criteria that are directly related to the product goal, Global Contexts (optional) and research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Develop measurable criteria (SMART goals)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Explain &amp; justify criteria based on the transfer of research to product (optional: learning goal + Global Contexts)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311700" y="4911600"/>
            <a:ext cx="5634000" cy="14295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When you set a goal and make your personal project, you will need to think about </a:t>
            </a:r>
            <a:r>
              <a:rPr b="1"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know if it is successful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To do this, we look at two ways of checking: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82475" y="6341100"/>
            <a:ext cx="6493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Source</a:t>
            </a:r>
            <a:r>
              <a:rPr lang="en" sz="1800">
                <a:solidFill>
                  <a:schemeClr val="dk2"/>
                </a:solidFill>
              </a:rPr>
              <a:t>: </a:t>
            </a:r>
            <a:r>
              <a:rPr i="1" lang="en" sz="1100">
                <a:solidFill>
                  <a:schemeClr val="dk1"/>
                </a:solidFill>
              </a:rPr>
              <a:t>ICSZ Library Guides</a:t>
            </a:r>
            <a:r>
              <a:rPr lang="en" sz="1100">
                <a:solidFill>
                  <a:schemeClr val="dk1"/>
                </a:solidFill>
              </a:rPr>
              <a:t>, International Community School Zurich, n.d.,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100" u="sng">
                <a:solidFill>
                  <a:schemeClr val="hlink"/>
                </a:solidFill>
                <a:hlinkClick r:id="rId5"/>
              </a:rPr>
              <a:t>https://icsz.libguides.com/c.php?g=721995&amp;p=5248418</a:t>
            </a:r>
            <a:r>
              <a:rPr lang="en" sz="1100">
                <a:solidFill>
                  <a:schemeClr val="dk1"/>
                </a:solidFill>
              </a:rPr>
              <a:t>. Accessed 1 October 2025.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593400"/>
            <a:ext cx="8520600" cy="40140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Quantitative evaluation (things you can measure with numbers or facts):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This means looking at parts of your project that you can count, measure, or see clearly.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8"/>
              <a:buFont typeface="Arial"/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Examples: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the size of your project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how long or wide it is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how many materials you used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how much of something you made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182475" y="6264900"/>
            <a:ext cx="6493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Source</a:t>
            </a:r>
            <a:r>
              <a:rPr lang="en" sz="1800">
                <a:solidFill>
                  <a:schemeClr val="dk2"/>
                </a:solidFill>
              </a:rPr>
              <a:t>: </a:t>
            </a:r>
            <a:r>
              <a:rPr i="1" lang="en" sz="1100">
                <a:solidFill>
                  <a:schemeClr val="dk1"/>
                </a:solidFill>
              </a:rPr>
              <a:t>ICSZ Library Guides</a:t>
            </a:r>
            <a:r>
              <a:rPr lang="en" sz="1100">
                <a:solidFill>
                  <a:schemeClr val="dk1"/>
                </a:solidFill>
              </a:rPr>
              <a:t>, International Community School Zurich, n.d.,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100" u="sng">
                <a:solidFill>
                  <a:schemeClr val="hlink"/>
                </a:solidFill>
                <a:hlinkClick r:id="rId5"/>
              </a:rPr>
              <a:t>https://icsz.libguides.com/c.php?g=721995&amp;p=5248418</a:t>
            </a:r>
            <a:r>
              <a:rPr lang="en" sz="1100">
                <a:solidFill>
                  <a:schemeClr val="dk1"/>
                </a:solidFill>
              </a:rPr>
              <a:t>. Accessed 1 October 2025.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593400"/>
            <a:ext cx="8520600" cy="40140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Qualitative evaluation (things you cannot measure with numbers):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This means looking at the quality of your project and how it affects people. These are things that are harder to measure but are still important.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Examples: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the message or meaning behind your work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how it is designed for a specific audience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-3371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how it makes people feel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00" y="4191000"/>
            <a:ext cx="2590799" cy="25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311700" y="4850775"/>
            <a:ext cx="5634000" cy="14295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thinking about both types—numbers (quantifiable) and qualities (qualitative)—you will have a clearer picture of what makes your project successful</a:t>
            </a:r>
            <a:endParaRPr sz="1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131675" y="6280275"/>
            <a:ext cx="64932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Source</a:t>
            </a:r>
            <a:r>
              <a:rPr lang="en" sz="1800">
                <a:solidFill>
                  <a:schemeClr val="dk2"/>
                </a:solidFill>
              </a:rPr>
              <a:t>: </a:t>
            </a:r>
            <a:r>
              <a:rPr i="1" lang="en" sz="1100">
                <a:solidFill>
                  <a:schemeClr val="dk1"/>
                </a:solidFill>
              </a:rPr>
              <a:t>ICSZ Library Guides</a:t>
            </a:r>
            <a:r>
              <a:rPr lang="en" sz="1100">
                <a:solidFill>
                  <a:schemeClr val="dk1"/>
                </a:solidFill>
              </a:rPr>
              <a:t>, International Community School Zurich, n.d.,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100" u="sng">
                <a:solidFill>
                  <a:schemeClr val="hlink"/>
                </a:solidFill>
                <a:hlinkClick r:id="rId5"/>
              </a:rPr>
              <a:t>https://icsz.libguides.com/c.php?g=721995&amp;p=5248418</a:t>
            </a:r>
            <a:r>
              <a:rPr lang="en" sz="1100">
                <a:solidFill>
                  <a:schemeClr val="dk1"/>
                </a:solidFill>
              </a:rPr>
              <a:t>. Accessed 1 October 2025.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6242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 title="Screenshot 2025-10-01 at 9.31.21.png"/>
          <p:cNvPicPr preferRelativeResize="0"/>
          <p:nvPr/>
        </p:nvPicPr>
        <p:blipFill rotWithShape="1">
          <a:blip r:embed="rId3">
            <a:alphaModFix/>
          </a:blip>
          <a:srcRect b="20318" l="26958" r="25420" t="23894"/>
          <a:stretch/>
        </p:blipFill>
        <p:spPr>
          <a:xfrm>
            <a:off x="1940100" y="593375"/>
            <a:ext cx="7203901" cy="548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166125" y="747525"/>
            <a:ext cx="2028900" cy="4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 section of a success criteria taken from a student example: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5138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Montserrat"/>
                <a:ea typeface="Montserrat"/>
                <a:cs typeface="Montserrat"/>
                <a:sym typeface="Montserrat"/>
              </a:rPr>
              <a:t>Success Criteria - Due October 8th</a:t>
            </a:r>
            <a:endParaRPr b="1"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27740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Copy and paste or link your success criteria/action plan to the tab in Toddle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24" title="Screenshot 2026-08-25 at 15.44.27.png"/>
          <p:cNvPicPr preferRelativeResize="0"/>
          <p:nvPr/>
        </p:nvPicPr>
        <p:blipFill rotWithShape="1">
          <a:blip r:embed="rId3">
            <a:alphaModFix/>
          </a:blip>
          <a:srcRect b="10706" l="18609" r="30282" t="24803"/>
          <a:stretch/>
        </p:blipFill>
        <p:spPr>
          <a:xfrm>
            <a:off x="560450" y="2084999"/>
            <a:ext cx="4673603" cy="383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/>
          <p:nvPr/>
        </p:nvSpPr>
        <p:spPr>
          <a:xfrm>
            <a:off x="201650" y="3637725"/>
            <a:ext cx="4673700" cy="1461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575445"/>
            <a:ext cx="8520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 u="sng"/>
              <a:t>Action Plan - Deadline 2nd November </a:t>
            </a:r>
            <a:endParaRPr sz="2400"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309526"/>
            <a:ext cx="8520600" cy="40950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847344" rtl="0" algn="l">
              <a:spcBef>
                <a:spcPts val="91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dk1"/>
                </a:solidFill>
                <a:highlight>
                  <a:srgbClr val="D9EAD3"/>
                </a:highlight>
              </a:rPr>
              <a:t>iii. present a clear, detailed plan for achieving the product and its associated success criteria</a:t>
            </a:r>
            <a:r>
              <a:rPr i="1" lang="en" sz="1600">
                <a:solidFill>
                  <a:srgbClr val="6E6E00"/>
                </a:solidFill>
                <a:highlight>
                  <a:srgbClr val="D9EAD3"/>
                </a:highlight>
              </a:rPr>
              <a:t>. </a:t>
            </a:r>
            <a:endParaRPr i="1" sz="1600">
              <a:solidFill>
                <a:srgbClr val="6E6E00"/>
              </a:solidFill>
              <a:highlight>
                <a:srgbClr val="D9EAD3"/>
              </a:highlight>
            </a:endParaRPr>
          </a:p>
          <a:p>
            <a:pPr indent="0" lvl="0" marL="0" marR="847344" rtl="0" algn="l">
              <a:spcBef>
                <a:spcPts val="91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6E6E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Using the success criteria that you created, you will design an action plan to help you create your product.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You might choose to make a </a:t>
            </a:r>
            <a:r>
              <a:rPr i="1" lang="en" sz="1600">
                <a:solidFill>
                  <a:schemeClr val="dk1"/>
                </a:solidFill>
              </a:rPr>
              <a:t>GANTT chart, flow chart, to-do list, timeline, calendar, </a:t>
            </a:r>
            <a:r>
              <a:rPr lang="en" sz="1600">
                <a:solidFill>
                  <a:schemeClr val="dk1"/>
                </a:solidFill>
              </a:rPr>
              <a:t>or any other method to create your action plan.  A detailed action plan may include a description of each step, resources needed, the time needed and/or deadlines.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Check on Toddle resources for Action Plan templates.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Keep updating your action plan throughout the project - this will help you with your planning and staying on track</a:t>
            </a:r>
            <a:endParaRPr sz="1600"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7425" y="4836925"/>
            <a:ext cx="1944876" cy="194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186800" y="286814"/>
            <a:ext cx="2594400" cy="20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Student </a:t>
            </a: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26" title="Screenshot 2025-11-03 at 8.27.44.png"/>
          <p:cNvPicPr preferRelativeResize="0"/>
          <p:nvPr/>
        </p:nvPicPr>
        <p:blipFill rotWithShape="1">
          <a:blip r:embed="rId3">
            <a:alphaModFix/>
          </a:blip>
          <a:srcRect b="2268" l="25165" r="27029" t="22888"/>
          <a:stretch/>
        </p:blipFill>
        <p:spPr>
          <a:xfrm>
            <a:off x="2854475" y="147600"/>
            <a:ext cx="6289526" cy="64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139700" y="317500"/>
            <a:ext cx="8801100" cy="6350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360151" y="113993"/>
            <a:ext cx="78840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Open Sans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Action plan top tips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60151" y="2289983"/>
            <a:ext cx="52962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7300" lvl="0" marL="450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Consider your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approaches to learning 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(ATL) skills and make a plan that works for you. For example, if you struggle with time-management, you may wish to make an action plan that ensures you complete work early or allows for flexibility.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437300" lvl="0" marL="45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Different types of projects require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research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at different stages. Think about when research will be needed in your project.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360151" y="1221524"/>
            <a:ext cx="80889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7300" lvl="0" marL="45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i="0" lang="en" sz="2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You should take into consideration the </a:t>
            </a:r>
            <a:r>
              <a:rPr b="1" i="0" lang="en" sz="2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time needed to complete the project </a:t>
            </a:r>
            <a:r>
              <a:rPr i="0" lang="en" sz="2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(25 hours) and may wish to record timings in your action plan.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00" y="3429000"/>
            <a:ext cx="293370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/>
          <p:nvPr/>
        </p:nvSpPr>
        <p:spPr>
          <a:xfrm>
            <a:off x="177800" y="444500"/>
            <a:ext cx="8623200" cy="6215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 txBox="1"/>
          <p:nvPr>
            <p:ph type="title"/>
          </p:nvPr>
        </p:nvSpPr>
        <p:spPr>
          <a:xfrm>
            <a:off x="504000" y="324000"/>
            <a:ext cx="78840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 the report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87700" y="1478100"/>
            <a:ext cx="7884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At the end of the personal project, you will submit a report with a section about this phase of the project. You will need to: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i)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state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a learning goal for the project and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explain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how a personal interest led to that goal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ii)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state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an intended product and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develop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appropriate success criteria for the product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iii) </a:t>
            </a:r>
            <a:r>
              <a:rPr b="1" lang="en" sz="2000">
                <a:latin typeface="Montserrat"/>
                <a:ea typeface="Montserrat"/>
                <a:cs typeface="Montserrat"/>
                <a:sym typeface="Montserrat"/>
              </a:rPr>
              <a:t>present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 a clear, detailed plan for achieving the product and its associated success criteria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i="1" lang="en" sz="2000">
                <a:latin typeface="Montserrat"/>
                <a:ea typeface="Montserrat"/>
                <a:cs typeface="Montserrat"/>
                <a:sym typeface="Montserrat"/>
              </a:rPr>
              <a:t>upport </a:t>
            </a:r>
            <a:r>
              <a:rPr i="1" lang="en" sz="2000">
                <a:latin typeface="Montserrat"/>
                <a:ea typeface="Montserrat"/>
                <a:cs typeface="Montserrat"/>
                <a:sym typeface="Montserrat"/>
              </a:rPr>
              <a:t>your planning with detailed examples and evidence.</a:t>
            </a:r>
            <a:endParaRPr i="1"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10300" lvl="0" marL="45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300" y="5212200"/>
            <a:ext cx="1447700" cy="14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