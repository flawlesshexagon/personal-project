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  <p:embeddedFont>
      <p:font typeface="Nunito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35" Type="http://schemas.openxmlformats.org/officeDocument/2006/relationships/font" Target="fonts/NunitoSans-bold.fntdata"/><Relationship Id="rId12" Type="http://schemas.openxmlformats.org/officeDocument/2006/relationships/slide" Target="slides/slide7.xml"/><Relationship Id="rId34" Type="http://schemas.openxmlformats.org/officeDocument/2006/relationships/font" Target="fonts/NunitoSans-regular.fntdata"/><Relationship Id="rId15" Type="http://schemas.openxmlformats.org/officeDocument/2006/relationships/slide" Target="slides/slide10.xml"/><Relationship Id="rId37" Type="http://schemas.openxmlformats.org/officeDocument/2006/relationships/font" Target="fonts/NunitoSans-boldItalic.fntdata"/><Relationship Id="rId14" Type="http://schemas.openxmlformats.org/officeDocument/2006/relationships/slide" Target="slides/slide9.xml"/><Relationship Id="rId36" Type="http://schemas.openxmlformats.org/officeDocument/2006/relationships/font" Target="fonts/Nunito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jayclark?utm_source=unsplash&amp;utm_medium=referral&amp;utm_content=creditCopyText" TargetMode="External"/><Relationship Id="rId3" Type="http://schemas.openxmlformats.org/officeDocument/2006/relationships/hyperlink" Target="https://unsplash.com/s/photos/skateboarding?utm_source=unsplash&amp;utm_medium=referral&amp;utm_content=creditCopyText" TargetMode="External"/><Relationship Id="rId4" Type="http://schemas.openxmlformats.org/officeDocument/2006/relationships/hyperlink" Target="https://unsplash.com/photos/ud1MTV9_Llg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peckfechta?utm_source=unsplash&amp;utm_medium=referral&amp;utm_content=creditCopyText" TargetMode="External"/><Relationship Id="rId3" Type="http://schemas.openxmlformats.org/officeDocument/2006/relationships/hyperlink" Target="https://unsplash.com/s/photos/challenge?utm_source=unsplash&amp;utm_medium=referral&amp;utm_content=creditCopyText" TargetMode="External"/><Relationship Id="rId4" Type="http://schemas.openxmlformats.org/officeDocument/2006/relationships/hyperlink" Target="https://unsplash.com/photos/N4QTBfNQ8Nk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lotography?utm_source=unsplash&amp;utm_medium=referral&amp;utm_content=creditCopyText" TargetMode="External"/><Relationship Id="rId3" Type="http://schemas.openxmlformats.org/officeDocument/2006/relationships/hyperlink" Target="https://unsplash.com/s/photos/passion?utm_source=unsplash&amp;utm_medium=referral&amp;utm_content=creditCopyText" TargetMode="External"/><Relationship Id="rId4" Type="http://schemas.openxmlformats.org/officeDocument/2006/relationships/hyperlink" Target="https://unsplash.com/photos/2sgELHMCC-0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hanerounce?utm_source=unsplash&amp;utm_medium=referral&amp;utm_content=creditCopyText" TargetMode="External"/><Relationship Id="rId3" Type="http://schemas.openxmlformats.org/officeDocument/2006/relationships/hyperlink" Target="https://unsplash.com/s/photos/community-impact?utm_source=unsplash&amp;utm_medium=referral&amp;utm_content=creditCopyText" TargetMode="External"/><Relationship Id="rId4" Type="http://schemas.openxmlformats.org/officeDocument/2006/relationships/hyperlink" Target="https://unsplash.com/photos/DNkoNXQti3c2sgELHMCC-0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92f20c9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792f20c919_0_5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840aa87cb_1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f840aa87cb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840aa87cb_1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840aa87cb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840aa87cb_1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840aa87cb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840aa87cb_1_12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840aa87cb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40aa87cb_1_1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840aa87cb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40aa87cb_1_20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840aa87cb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b11884e03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b11884e0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2f20c91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792f20c919_0_54:notes"/>
          <p:cNvSpPr/>
          <p:nvPr>
            <p:ph idx="2" type="sldImg"/>
          </p:nvPr>
        </p:nvSpPr>
        <p:spPr>
          <a:xfrm>
            <a:off x="1714763" y="685800"/>
            <a:ext cx="3429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b978b4099_1_5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8b978b4099_1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Researched - read articles, spoke to expert, researched apps and sports watches, social and communication skills - running with others, revised and reviewed my plan based on performance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b978b4099_1_5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8b978b4099_1_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8b978b4099_1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note that the product may be a tangible artifact such as a sculpture, film, story or model, or it could be a non-tangible result such as an awareness-raising campaign, learning to play a new piece of music or improving athletic performance. </a:t>
            </a:r>
            <a:endParaRPr/>
          </a:p>
        </p:txBody>
      </p:sp>
      <p:sp>
        <p:nvSpPr>
          <p:cNvPr id="179" name="Google Shape;179;g38b978b4099_1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b978b4099_1_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8b978b4099_1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g38b978b4099_1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b978b4099_1_9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g38b978b4099_1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Some possible products: </a:t>
            </a:r>
            <a:endParaRPr/>
          </a:p>
          <a:p>
            <a:pPr indent="-234000" lvl="0" marL="23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Sourcing components to make a PC</a:t>
            </a:r>
            <a:endParaRPr/>
          </a:p>
          <a:p>
            <a:pPr indent="-234000" lvl="0" marL="23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Producing an instruction manual on how to build a PC</a:t>
            </a:r>
            <a:endParaRPr/>
          </a:p>
          <a:p>
            <a:pPr indent="-234000" lvl="0" marL="23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Developing affordable PCs for a local community</a:t>
            </a:r>
            <a:endParaRPr/>
          </a:p>
        </p:txBody>
      </p:sp>
      <p:sp>
        <p:nvSpPr>
          <p:cNvPr id="212" name="Google Shape;212;g38b978b4099_1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b978b4099_1_10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8b978b4099_1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Some possible learning goals: 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Learn about agriculture and nutritional content of plants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Learn about how to grow plants sustainably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Learn about how to create hydroponic plants for eating</a:t>
            </a:r>
            <a:endParaRPr/>
          </a:p>
          <a:p>
            <a:pPr indent="-234000" lvl="0" marL="23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n" sz="1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Learn about how to develop rooftop gardens for nutrition</a:t>
            </a:r>
            <a:endParaRPr/>
          </a:p>
        </p:txBody>
      </p:sp>
      <p:sp>
        <p:nvSpPr>
          <p:cNvPr id="223" name="Google Shape;223;g38b978b4099_1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b978b4099_1_4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8b978b4099_1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Photo by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Jay Clark</a:t>
            </a:r>
            <a:r>
              <a:rPr lang="en" sz="1200" u="none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on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Unsplash</a:t>
            </a:r>
            <a:r>
              <a:rPr b="0" lang="en" sz="1200" u="none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lang="en" sz="1200" u="sng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4"/>
              </a:rPr>
              <a:t>https://unsplash.com/photos/ud1MTV9_Llg</a:t>
            </a:r>
            <a:r>
              <a:rPr b="0" lang="en" sz="1200" u="none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b978b4099_1_4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8b978b4099_1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Photo by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 )</a:t>
            </a: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Unsplash</a:t>
            </a:r>
            <a:r>
              <a:rPr lang="en" sz="1200" u="none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" sz="1200" u="none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lang="en" sz="1200" u="sng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4"/>
              </a:rPr>
              <a:t>https://unsplash.com/photos/N4QTBfNQ8Nk</a:t>
            </a:r>
            <a:r>
              <a:rPr b="0" lang="en" sz="1200" u="none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b978b4099_1_4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8b978b4099_1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Photo by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Florian Schneider</a:t>
            </a: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Unsplash</a:t>
            </a:r>
            <a:r>
              <a:rPr lang="en" sz="1200" u="none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lang="en" sz="1200" u="none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lang="en" sz="1200" u="sng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4"/>
              </a:rPr>
              <a:t>https://unsplash.com/photos/2sgELHMCC-0</a:t>
            </a:r>
            <a:r>
              <a:rPr b="0" lang="en" sz="1200" u="none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8b978b4099_1_4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8b978b4099_1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Photo by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Shane Rounce</a:t>
            </a:r>
            <a:r>
              <a:rPr lang="en" sz="1200">
                <a:solidFill>
                  <a:srgbClr val="111111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on </a:t>
            </a:r>
            <a:r>
              <a:rPr lang="en" sz="1200" u="sng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Unsplash</a:t>
            </a:r>
            <a:r>
              <a:rPr lang="en" sz="1200" u="none">
                <a:solidFill>
                  <a:srgbClr val="767676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lang="en" sz="1200" u="sng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  <a:hlinkClick r:id="rId4"/>
              </a:rPr>
              <a:t>https://unsplash.com/photos/DNkoNXQti3c</a:t>
            </a:r>
            <a:r>
              <a:rPr b="0" lang="en" sz="1200" u="none">
                <a:solidFill>
                  <a:schemeClr val="hlink"/>
                </a:solidFill>
                <a:highlight>
                  <a:srgbClr val="F5F5F5"/>
                </a:highlight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840aa87cb_1_9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840aa87cb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94288" y="787068"/>
            <a:ext cx="75582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94288" y="2521885"/>
            <a:ext cx="7558200" cy="3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indent="-317500" lvl="1" marL="9144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228600" lvl="2" marL="13716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indent="-317500" lvl="3" marL="18288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228600" lvl="4" marL="228600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97764" y="136525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94289" y="6356351"/>
            <a:ext cx="2588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741525" y="6356351"/>
            <a:ext cx="3975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95959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6" name="Google Shape;56;p13"/>
          <p:cNvGrpSpPr/>
          <p:nvPr/>
        </p:nvGrpSpPr>
        <p:grpSpPr>
          <a:xfrm>
            <a:off x="397659" y="2310586"/>
            <a:ext cx="729175" cy="45719"/>
            <a:chOff x="4886325" y="3371754"/>
            <a:chExt cx="2418492" cy="113728"/>
          </a:xfrm>
        </p:grpSpPr>
        <p:sp>
          <p:nvSpPr>
            <p:cNvPr id="57" name="Google Shape;57;p13"/>
            <p:cNvSpPr/>
            <p:nvPr/>
          </p:nvSpPr>
          <p:spPr>
            <a:xfrm>
              <a:off x="4886325" y="3428428"/>
              <a:ext cx="2418302" cy="9525"/>
            </a:xfrm>
            <a:custGeom>
              <a:rect b="b" l="l" r="r" t="t"/>
              <a:pathLst>
                <a:path extrusionOk="0" h="9525" w="2418302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58" name="Google Shape;58;p13"/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</p:grpSpPr>
          <p:sp>
            <p:nvSpPr>
              <p:cNvPr id="59" name="Google Shape;59;p13"/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rect b="b" l="l" r="r" t="t"/>
                <a:pathLst>
                  <a:path extrusionOk="0" h="2906" w="32575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rect b="b" l="l" r="r" t="t"/>
                <a:pathLst>
                  <a:path extrusionOk="0" h="42" w="380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rect b="b" l="l" r="r" t="t"/>
                <a:pathLst>
                  <a:path extrusionOk="0" h="190" w="10001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rect b="b" l="l" r="r" t="t"/>
                <a:pathLst>
                  <a:path extrusionOk="0" h="113728" w="241810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755649" y="324000"/>
            <a:ext cx="7884000" cy="925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Open Sa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5399649" y="1440000"/>
            <a:ext cx="3240000" cy="44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937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1pPr>
            <a:lvl2pPr indent="-3937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2pPr>
            <a:lvl3pPr indent="-3937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3pPr>
            <a:lvl4pPr indent="-3937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4pPr>
            <a:lvl5pPr indent="-3937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756000" y="1440000"/>
            <a:ext cx="4464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b="1" sz="2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7560000" y="6516000"/>
            <a:ext cx="828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1" type="ftr"/>
          </p:nvPr>
        </p:nvSpPr>
        <p:spPr>
          <a:xfrm>
            <a:off x="7200000" y="6660000"/>
            <a:ext cx="1440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lnSpc>
                <a:spcPct val="5555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88000" y="6516000"/>
            <a:ext cx="252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4"/>
          <p:cNvSpPr txBox="1"/>
          <p:nvPr>
            <p:ph idx="3" type="body"/>
          </p:nvPr>
        </p:nvSpPr>
        <p:spPr>
          <a:xfrm>
            <a:off x="755650" y="2123998"/>
            <a:ext cx="4464300" cy="37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937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1pPr>
            <a:lvl2pPr indent="-3937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2pPr>
            <a:lvl3pPr indent="-3937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3pPr>
            <a:lvl4pPr indent="-3937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4pPr>
            <a:lvl5pPr indent="-3937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sz="2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OBJECT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08960" y="6377940"/>
            <a:ext cx="2925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6377940"/>
            <a:ext cx="210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6583680" y="6377940"/>
            <a:ext cx="2103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88888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8.jpg"/><Relationship Id="rId5" Type="http://schemas.openxmlformats.org/officeDocument/2006/relationships/image" Target="../media/image22.jp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5.png"/><Relationship Id="rId5" Type="http://schemas.openxmlformats.org/officeDocument/2006/relationships/image" Target="../media/image20.jpg"/><Relationship Id="rId6" Type="http://schemas.openxmlformats.org/officeDocument/2006/relationships/image" Target="../media/image2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6"/>
          <p:cNvGrpSpPr/>
          <p:nvPr/>
        </p:nvGrpSpPr>
        <p:grpSpPr>
          <a:xfrm>
            <a:off x="4922783" y="2380804"/>
            <a:ext cx="729175" cy="45719"/>
            <a:chOff x="4886325" y="3371754"/>
            <a:chExt cx="2418492" cy="113728"/>
          </a:xfrm>
        </p:grpSpPr>
        <p:sp>
          <p:nvSpPr>
            <p:cNvPr id="80" name="Google Shape;80;p16"/>
            <p:cNvSpPr/>
            <p:nvPr/>
          </p:nvSpPr>
          <p:spPr>
            <a:xfrm>
              <a:off x="4886325" y="3428428"/>
              <a:ext cx="2418302" cy="9525"/>
            </a:xfrm>
            <a:custGeom>
              <a:rect b="b" l="l" r="r" t="t"/>
              <a:pathLst>
                <a:path extrusionOk="0" h="9525" w="2418302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81" name="Google Shape;81;p16"/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</p:grpSpPr>
          <p:sp>
            <p:nvSpPr>
              <p:cNvPr id="82" name="Google Shape;82;p16"/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rect b="b" l="l" r="r" t="t"/>
                <a:pathLst>
                  <a:path extrusionOk="0" h="2906" w="32575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3" name="Google Shape;83;p16"/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rect b="b" l="l" r="r" t="t"/>
                <a:pathLst>
                  <a:path extrusionOk="0" h="42" w="380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4" name="Google Shape;84;p16"/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rect b="b" l="l" r="r" t="t"/>
                <a:pathLst>
                  <a:path extrusionOk="0" h="190" w="10001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rect b="b" l="l" r="r" t="t"/>
                <a:pathLst>
                  <a:path extrusionOk="0" h="113728" w="241810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dk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</p:grpSp>
      <p:sp>
        <p:nvSpPr>
          <p:cNvPr id="86" name="Google Shape;86;p16"/>
          <p:cNvSpPr/>
          <p:nvPr/>
        </p:nvSpPr>
        <p:spPr>
          <a:xfrm>
            <a:off x="133400" y="149075"/>
            <a:ext cx="8767200" cy="6589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572000" y="1281100"/>
            <a:ext cx="4000500" cy="48900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Through the personal project, you will: 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explore an interest that is personally meaningful to you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take ownership of your learning by undertaking a self-directed inquiry 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transfer and apply skills in pursuit of a learning goal and the creation of a product 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</a:pPr>
            <a:r>
              <a:rPr lang="en" sz="2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recognize and evidence personal growth and development. </a:t>
            </a:r>
            <a:endParaRPr sz="2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3237" y="4297783"/>
            <a:ext cx="1979375" cy="1979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>
            <p:ph type="title"/>
          </p:nvPr>
        </p:nvSpPr>
        <p:spPr>
          <a:xfrm>
            <a:off x="215950" y="523125"/>
            <a:ext cx="3906600" cy="46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"/>
              <a:buNone/>
            </a:pPr>
            <a:br>
              <a:rPr lang="en" sz="2100"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2100">
                <a:latin typeface="Montserrat"/>
                <a:ea typeface="Montserrat"/>
                <a:cs typeface="Montserrat"/>
                <a:sym typeface="Montserrat"/>
              </a:rPr>
            </a:br>
            <a:br>
              <a:rPr i="1" lang="en" sz="2300">
                <a:latin typeface="Montserrat"/>
                <a:ea typeface="Montserrat"/>
                <a:cs typeface="Montserrat"/>
                <a:sym typeface="Montserrat"/>
              </a:rPr>
            </a:br>
            <a:r>
              <a:rPr i="1" lang="en" sz="2300">
                <a:latin typeface="Montserrat"/>
                <a:ea typeface="Montserrat"/>
                <a:cs typeface="Montserrat"/>
                <a:sym typeface="Montserrat"/>
              </a:rPr>
              <a:t>Through the process of inquiry, action and reflection, </a:t>
            </a:r>
            <a:r>
              <a:rPr i="1" lang="en" sz="2300">
                <a:latin typeface="Montserrat"/>
                <a:ea typeface="Montserrat"/>
                <a:cs typeface="Montserrat"/>
                <a:sym typeface="Montserrat"/>
              </a:rPr>
              <a:t>you will </a:t>
            </a:r>
            <a:r>
              <a:rPr i="1" lang="en" sz="2300">
                <a:latin typeface="Montserrat"/>
                <a:ea typeface="Montserrat"/>
                <a:cs typeface="Montserrat"/>
                <a:sym typeface="Montserrat"/>
              </a:rPr>
              <a:t>demonstrate and strengthen </a:t>
            </a:r>
            <a:r>
              <a:rPr i="1" lang="en" sz="2300"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i="1" lang="en" sz="2300">
                <a:latin typeface="Montserrat"/>
                <a:ea typeface="Montserrat"/>
                <a:cs typeface="Montserrat"/>
                <a:sym typeface="Montserrat"/>
              </a:rPr>
              <a:t>approaches to learning (ATL) skills. </a:t>
            </a:r>
            <a:br>
              <a:rPr lang="en" sz="1900">
                <a:latin typeface="Montserrat"/>
                <a:ea typeface="Montserrat"/>
                <a:cs typeface="Montserrat"/>
                <a:sym typeface="Montserrat"/>
              </a:rPr>
            </a:br>
            <a:endParaRPr sz="19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410625" y="357425"/>
            <a:ext cx="6478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 Project Introduction: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/>
        </p:nvSpPr>
        <p:spPr>
          <a:xfrm>
            <a:off x="215950" y="298175"/>
            <a:ext cx="8654700" cy="63660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You will have 1 personal project lesson per cycle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. You will produce a </a:t>
            </a:r>
            <a:r>
              <a:rPr b="1" lang="en" sz="1800">
                <a:solidFill>
                  <a:schemeClr val="dk1"/>
                </a:solidFill>
              </a:rPr>
              <a:t>product </a:t>
            </a:r>
            <a:r>
              <a:rPr lang="en" sz="1800">
                <a:solidFill>
                  <a:schemeClr val="dk1"/>
                </a:solidFill>
              </a:rPr>
              <a:t>and a </a:t>
            </a:r>
            <a:r>
              <a:rPr b="1" lang="en" sz="1800">
                <a:solidFill>
                  <a:schemeClr val="dk1"/>
                </a:solidFill>
              </a:rPr>
              <a:t>report </a:t>
            </a:r>
            <a:r>
              <a:rPr lang="en" sz="1800">
                <a:solidFill>
                  <a:schemeClr val="dk1"/>
                </a:solidFill>
              </a:rPr>
              <a:t>and a </a:t>
            </a:r>
            <a:r>
              <a:rPr b="1" lang="en" sz="1800">
                <a:solidFill>
                  <a:schemeClr val="dk1"/>
                </a:solidFill>
              </a:rPr>
              <a:t>bibliography.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The completion date for the product is: Feb 2nd. Hand in date for the report is March 16th.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Report is made up of 3 criteria: Criteria A: Planning, Criterion B: Applying (ATL) Skills Criterion C: Reflection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. Report is a max of 15 pages (including visual evidence)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All work will be submitted on Toddle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Guidance and support will be on Toddle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You will be allocated a supervisor who will support you through the PP journey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You will be presenting your product to our community in our Personal Project Showcase on March 11th.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. Your work will be assessed and moderated by TIS staff members before being externally </a:t>
            </a:r>
            <a:r>
              <a:rPr lang="en" sz="1800">
                <a:solidFill>
                  <a:schemeClr val="dk1"/>
                </a:solidFill>
              </a:rPr>
              <a:t>assessed</a:t>
            </a:r>
            <a:r>
              <a:rPr lang="en" sz="1800">
                <a:solidFill>
                  <a:schemeClr val="dk1"/>
                </a:solidFill>
              </a:rPr>
              <a:t> by the IB for final grading.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15950" y="447250"/>
            <a:ext cx="64782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 Project Nuts and Bolts:</a:t>
            </a:r>
            <a:endParaRPr/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7675" y="5337300"/>
            <a:ext cx="1237425" cy="123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300675" y="328000"/>
            <a:ext cx="8363700" cy="6321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Expectations:</a:t>
            </a:r>
            <a:endParaRPr b="1" sz="26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Meet all deadlines: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these are all on Toddle for you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Every lesson bring: 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pencil case, laptop, planners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Independent work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i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have lessons once a cycle but most of the work for personal project will need to be </a:t>
            </a:r>
            <a:r>
              <a:rPr i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completed</a:t>
            </a:r>
            <a:r>
              <a:rPr i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outside of this class time</a:t>
            </a:r>
            <a:endParaRPr i="1"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Professional 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communication and conduct with supervisors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Reach out for help - Anya, Chris, your supervisor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Academic Integrity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Regularly update your </a:t>
            </a:r>
            <a:r>
              <a:rPr b="1"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process journal </a:t>
            </a: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Toddle.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6200" y="5531125"/>
            <a:ext cx="1118175" cy="11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9" title="Screenshot 2026-06-03 at 10.16.21.png"/>
          <p:cNvPicPr preferRelativeResize="0"/>
          <p:nvPr/>
        </p:nvPicPr>
        <p:blipFill rotWithShape="1">
          <a:blip r:embed="rId3">
            <a:alphaModFix/>
          </a:blip>
          <a:srcRect b="15675" l="26756" r="47390" t="54609"/>
          <a:stretch/>
        </p:blipFill>
        <p:spPr>
          <a:xfrm>
            <a:off x="1077926" y="1460074"/>
            <a:ext cx="2364027" cy="17672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359800" y="3108075"/>
            <a:ext cx="300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 to Code using C++ to make a MIDI Controller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19" title="Screenshot 2026-06-03 at 10.18.34.png"/>
          <p:cNvPicPr preferRelativeResize="0"/>
          <p:nvPr/>
        </p:nvPicPr>
        <p:blipFill rotWithShape="1">
          <a:blip r:embed="rId4">
            <a:alphaModFix/>
          </a:blip>
          <a:srcRect b="12112" l="51538" r="26672" t="41428"/>
          <a:stretch/>
        </p:blipFill>
        <p:spPr>
          <a:xfrm>
            <a:off x="3541800" y="669050"/>
            <a:ext cx="2295173" cy="3182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9"/>
          <p:cNvSpPr txBox="1"/>
          <p:nvPr/>
        </p:nvSpPr>
        <p:spPr>
          <a:xfrm>
            <a:off x="3441950" y="3811775"/>
            <a:ext cx="5657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Sports fundraising event - raising awareness and money for breast cancer charity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2" name="Google Shape;112;p19" title="IMG_6074.JPG"/>
          <p:cNvPicPr preferRelativeResize="0"/>
          <p:nvPr/>
        </p:nvPicPr>
        <p:blipFill rotWithShape="1">
          <a:blip r:embed="rId5">
            <a:alphaModFix/>
          </a:blip>
          <a:srcRect b="0" l="0" r="48211" t="39236"/>
          <a:stretch/>
        </p:blipFill>
        <p:spPr>
          <a:xfrm>
            <a:off x="332800" y="3851947"/>
            <a:ext cx="2854277" cy="2232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 txBox="1"/>
          <p:nvPr/>
        </p:nvSpPr>
        <p:spPr>
          <a:xfrm>
            <a:off x="332800" y="6294300"/>
            <a:ext cx="6610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Making a Go-Kart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018975" y="2875125"/>
            <a:ext cx="305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 an instrument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19" title="IMG_5950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18973" y="795050"/>
            <a:ext cx="2961152" cy="19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Screenshot 2026-06-03 at 10.27.02.png"/>
          <p:cNvPicPr preferRelativeResize="0"/>
          <p:nvPr/>
        </p:nvPicPr>
        <p:blipFill rotWithShape="1">
          <a:blip r:embed="rId7">
            <a:alphaModFix/>
          </a:blip>
          <a:srcRect b="10027" l="4190" r="28664" t="32279"/>
          <a:stretch/>
        </p:blipFill>
        <p:spPr>
          <a:xfrm>
            <a:off x="3441950" y="4667775"/>
            <a:ext cx="3531433" cy="1973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7042150" y="4661250"/>
            <a:ext cx="171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Making an educational video to help students manage stress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164650" y="106350"/>
            <a:ext cx="858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TIS past student Personal Project Inspiration: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/>
        </p:nvSpPr>
        <p:spPr>
          <a:xfrm>
            <a:off x="3443647" y="3323871"/>
            <a:ext cx="231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"/>
                <a:ea typeface="Montserrat"/>
                <a:cs typeface="Montserrat"/>
                <a:sym typeface="Montserrat"/>
              </a:rPr>
              <a:t>Creating an animated video game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0" title="Screenshot 2026-06-03 at 10.06.59.png"/>
          <p:cNvPicPr preferRelativeResize="0"/>
          <p:nvPr/>
        </p:nvPicPr>
        <p:blipFill rotWithShape="1">
          <a:blip r:embed="rId3">
            <a:alphaModFix/>
          </a:blip>
          <a:srcRect b="4334" l="7515" r="27756" t="20545"/>
          <a:stretch/>
        </p:blipFill>
        <p:spPr>
          <a:xfrm>
            <a:off x="2593550" y="847375"/>
            <a:ext cx="3280824" cy="247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/>
          <p:nvPr/>
        </p:nvSpPr>
        <p:spPr>
          <a:xfrm>
            <a:off x="215900" y="6019800"/>
            <a:ext cx="670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Curating an art exhibition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6" name="Google Shape;126;p20" title="IMG_7463 (1).JPG"/>
          <p:cNvPicPr preferRelativeResize="0"/>
          <p:nvPr/>
        </p:nvPicPr>
        <p:blipFill rotWithShape="1">
          <a:blip r:embed="rId4">
            <a:alphaModFix/>
          </a:blip>
          <a:srcRect b="0" l="0" r="18247" t="0"/>
          <a:stretch/>
        </p:blipFill>
        <p:spPr>
          <a:xfrm>
            <a:off x="5976300" y="2059988"/>
            <a:ext cx="2880901" cy="2348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title="IMG_7418 (1).JPG"/>
          <p:cNvPicPr preferRelativeResize="0"/>
          <p:nvPr/>
        </p:nvPicPr>
        <p:blipFill rotWithShape="1">
          <a:blip r:embed="rId5">
            <a:alphaModFix/>
          </a:blip>
          <a:srcRect b="0" l="0" r="14807" t="0"/>
          <a:stretch/>
        </p:blipFill>
        <p:spPr>
          <a:xfrm>
            <a:off x="152400" y="3372000"/>
            <a:ext cx="3189775" cy="24954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5417425" y="4495700"/>
            <a:ext cx="521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Educational video on SIM-Racing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p20" title="Screenshot 2026-06-03 at 10.14.25.png"/>
          <p:cNvPicPr preferRelativeResize="0"/>
          <p:nvPr/>
        </p:nvPicPr>
        <p:blipFill rotWithShape="1">
          <a:blip r:embed="rId6">
            <a:alphaModFix/>
          </a:blip>
          <a:srcRect b="37741" l="27471" r="30602" t="47609"/>
          <a:stretch/>
        </p:blipFill>
        <p:spPr>
          <a:xfrm>
            <a:off x="3647100" y="5357908"/>
            <a:ext cx="5210102" cy="118410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3647100" y="4926788"/>
            <a:ext cx="5496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Creating a zine about Gen Z fashion and culture</a:t>
            </a:r>
            <a:endParaRPr sz="16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2593550" y="1870575"/>
            <a:ext cx="69000" cy="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2" name="Google Shape;132;p20"/>
          <p:cNvSpPr txBox="1"/>
          <p:nvPr/>
        </p:nvSpPr>
        <p:spPr>
          <a:xfrm>
            <a:off x="164650" y="106350"/>
            <a:ext cx="858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TIS past student Personal Project Inspiration:</a:t>
            </a:r>
            <a:endParaRPr b="1"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278250" y="372725"/>
            <a:ext cx="8587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Share with the person next to you an initial idea that you have for your personal project (think back to your homework </a:t>
            </a: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initial</a:t>
            </a:r>
            <a:r>
              <a:rPr lang="en" sz="2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ideas document).</a:t>
            </a:r>
            <a:endParaRPr sz="2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1" title="IMG_607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00" y="1774125"/>
            <a:ext cx="4200325" cy="279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1" title="Screenshot 2026-06-03 at 10.18.34.png"/>
          <p:cNvPicPr preferRelativeResize="0"/>
          <p:nvPr/>
        </p:nvPicPr>
        <p:blipFill rotWithShape="1">
          <a:blip r:embed="rId4">
            <a:alphaModFix/>
          </a:blip>
          <a:srcRect b="12112" l="51538" r="26672" t="41428"/>
          <a:stretch/>
        </p:blipFill>
        <p:spPr>
          <a:xfrm>
            <a:off x="2276825" y="3503550"/>
            <a:ext cx="2295173" cy="318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 title="IMG_595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9248" y="1693900"/>
            <a:ext cx="2961152" cy="1973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 title="IMG_7418 (1).JPG"/>
          <p:cNvPicPr preferRelativeResize="0"/>
          <p:nvPr/>
        </p:nvPicPr>
        <p:blipFill rotWithShape="1">
          <a:blip r:embed="rId6">
            <a:alphaModFix/>
          </a:blip>
          <a:srcRect b="0" l="0" r="14807" t="0"/>
          <a:stretch/>
        </p:blipFill>
        <p:spPr>
          <a:xfrm>
            <a:off x="5675975" y="4013075"/>
            <a:ext cx="3189775" cy="249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/>
        </p:nvSpPr>
        <p:spPr>
          <a:xfrm>
            <a:off x="278250" y="447275"/>
            <a:ext cx="8587500" cy="3047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Task: Toddle Navigation</a:t>
            </a:r>
            <a:endParaRPr b="1" sz="2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Find Personal Project on Toddle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Locate deadlines for the personal project: Add them to your planner!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Find your process journal 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Find the personal project guide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Find this presentation</a:t>
            </a:r>
            <a:endParaRPr sz="2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3">
            <a:alphaModFix/>
          </a:blip>
          <a:srcRect b="15382" l="16278" r="16513" t="14541"/>
          <a:stretch/>
        </p:blipFill>
        <p:spPr>
          <a:xfrm>
            <a:off x="397500" y="3494975"/>
            <a:ext cx="3165650" cy="330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 rotWithShape="1">
          <a:blip r:embed="rId4">
            <a:alphaModFix/>
          </a:blip>
          <a:srcRect b="11678" l="10462" r="9184" t="10154"/>
          <a:stretch/>
        </p:blipFill>
        <p:spPr>
          <a:xfrm>
            <a:off x="3965725" y="3638650"/>
            <a:ext cx="2951924" cy="28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/>
        </p:nvSpPr>
        <p:spPr>
          <a:xfrm>
            <a:off x="344400" y="284500"/>
            <a:ext cx="8460300" cy="31554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latin typeface="Montserrat"/>
                <a:ea typeface="Montserrat"/>
                <a:cs typeface="Montserrat"/>
                <a:sym typeface="Montserrat"/>
              </a:rPr>
              <a:t>In your planners write down </a:t>
            </a:r>
            <a:endParaRPr b="1" sz="2000" u="sng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latin typeface="Montserrat"/>
                <a:ea typeface="Montserrat"/>
                <a:cs typeface="Montserrat"/>
                <a:sym typeface="Montserrat"/>
              </a:rPr>
              <a:t>Learning &amp; Product Goal- Deadline September 10th</a:t>
            </a:r>
            <a:endParaRPr b="1" sz="2000" u="sng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Montserrat"/>
                <a:ea typeface="Montserrat"/>
                <a:cs typeface="Montserrat"/>
                <a:sym typeface="Montserrat"/>
              </a:rPr>
              <a:t>Complete the following sections in Toddle. This will later be used in Criterion A of your report.</a:t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Montserrat"/>
                <a:ea typeface="Montserrat"/>
                <a:cs typeface="Montserrat"/>
                <a:sym typeface="Montserrat"/>
              </a:rPr>
              <a:t>1) State the title and learning goal of your project</a:t>
            </a:r>
            <a:endParaRPr i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Montserrat"/>
                <a:ea typeface="Montserrat"/>
                <a:cs typeface="Montserrat"/>
                <a:sym typeface="Montserrat"/>
              </a:rPr>
              <a:t>2) What is the inspiration behind your personal project?</a:t>
            </a:r>
            <a:endParaRPr i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7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latin typeface="Montserrat"/>
                <a:ea typeface="Montserrat"/>
                <a:cs typeface="Montserrat"/>
                <a:sym typeface="Montserrat"/>
              </a:rPr>
              <a:t>3) State the intended product for your project</a:t>
            </a:r>
            <a:endParaRPr i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44400" y="3698525"/>
            <a:ext cx="8460300" cy="29949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Personal</a:t>
            </a:r>
            <a:r>
              <a:rPr b="1" lang="en" sz="22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Project Proposal Panel</a:t>
            </a:r>
            <a:endParaRPr b="1" sz="2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Starting from our lesson on September 10th you will be presenting your learning goal and product goal to a panel of 2-3 teachers/experts. These teachers will ask you questions about your goals and offer feedback.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will need to be able to justify and explain your goals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confidently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verbally. You can have your </a:t>
            </a:r>
            <a:r>
              <a:rPr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device with your Toddle entry to help you with this.</a:t>
            </a:r>
            <a:endParaRPr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159800" y="268346"/>
            <a:ext cx="75582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Geo"/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Define and refine your Project: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234350" y="1230325"/>
            <a:ext cx="8621400" cy="53355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project consists of two interrelated parts: 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a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learning goal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(what you want to learn) 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product 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(what you want to create). 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850" y="2638850"/>
            <a:ext cx="5341475" cy="340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573800" y="6059275"/>
            <a:ext cx="661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595959"/>
                </a:solidFill>
              </a:rPr>
              <a:t>Citation: guide.fariaedu.com/myp-personal-project/setting-a-goal/learning-goal-and-product</a:t>
            </a:r>
            <a:endParaRPr i="1" sz="1200">
              <a:solidFill>
                <a:srgbClr val="595959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6019800" y="268350"/>
            <a:ext cx="306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2"/>
                </a:solidFill>
              </a:rPr>
              <a:t>This week you will be working </a:t>
            </a:r>
            <a:r>
              <a:rPr i="1" lang="en" sz="2000">
                <a:solidFill>
                  <a:schemeClr val="dk2"/>
                </a:solidFill>
              </a:rPr>
              <a:t>independently</a:t>
            </a:r>
            <a:r>
              <a:rPr i="1" lang="en" sz="2000">
                <a:solidFill>
                  <a:schemeClr val="dk2"/>
                </a:solidFill>
              </a:rPr>
              <a:t> on…</a:t>
            </a:r>
            <a:endParaRPr i="1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593375"/>
            <a:ext cx="5264700" cy="594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22">
                <a:latin typeface="Montserrat"/>
                <a:ea typeface="Montserrat"/>
                <a:cs typeface="Montserrat"/>
                <a:sym typeface="Montserrat"/>
              </a:rPr>
              <a:t>Anya’s personal project: </a:t>
            </a:r>
            <a:r>
              <a:rPr i="1" lang="en" sz="2922">
                <a:latin typeface="Montserrat"/>
                <a:ea typeface="Montserrat"/>
                <a:cs typeface="Montserrat"/>
                <a:sym typeface="Montserrat"/>
              </a:rPr>
              <a:t>Half Marathon training plan</a:t>
            </a:r>
            <a:endParaRPr i="1"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22">
                <a:latin typeface="Montserrat"/>
                <a:ea typeface="Montserrat"/>
                <a:cs typeface="Montserrat"/>
                <a:sym typeface="Montserrat"/>
              </a:rPr>
              <a:t>Chris’s personal project:</a:t>
            </a:r>
            <a:r>
              <a:rPr lang="en" sz="3022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22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Montserrat"/>
                <a:ea typeface="Montserrat"/>
                <a:cs typeface="Montserrat"/>
                <a:sym typeface="Montserrat"/>
              </a:rPr>
              <a:t>Planning for a TIS Aquatics program</a:t>
            </a:r>
            <a:endParaRPr i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5" title="Screenshot 2026-06-03 at 10.42.10.png"/>
          <p:cNvPicPr preferRelativeResize="0"/>
          <p:nvPr/>
        </p:nvPicPr>
        <p:blipFill rotWithShape="1">
          <a:blip r:embed="rId3">
            <a:alphaModFix/>
          </a:blip>
          <a:srcRect b="2536" l="11721" r="45860" t="17966"/>
          <a:stretch/>
        </p:blipFill>
        <p:spPr>
          <a:xfrm>
            <a:off x="5872250" y="227475"/>
            <a:ext cx="2934774" cy="357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5" title="Jexter pool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5867" y="3957175"/>
            <a:ext cx="3435735" cy="257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ctrTitle"/>
          </p:nvPr>
        </p:nvSpPr>
        <p:spPr>
          <a:xfrm>
            <a:off x="311708" y="1361067"/>
            <a:ext cx="8520600" cy="2736900"/>
          </a:xfrm>
          <a:prstGeom prst="rect">
            <a:avLst/>
          </a:prstGeom>
          <a:solidFill>
            <a:srgbClr val="C9DAF8"/>
          </a:soli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latin typeface="Nunito Sans"/>
                <a:ea typeface="Nunito Sans"/>
                <a:cs typeface="Nunito Sans"/>
                <a:sym typeface="Nunito Sans"/>
              </a:rPr>
              <a:t>Learning and Product goal</a:t>
            </a:r>
            <a:endParaRPr b="1" sz="24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Nunito Sans"/>
                <a:ea typeface="Nunito Sans"/>
                <a:cs typeface="Nunito Sans"/>
                <a:sym typeface="Nunito Sans"/>
              </a:rPr>
              <a:t>Share your learning goal and product goal with the person sitting next to you.</a:t>
            </a:r>
            <a:endParaRPr sz="24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Nunito Sans"/>
                <a:ea typeface="Nunito Sans"/>
                <a:cs typeface="Nunito Sans"/>
                <a:sym typeface="Nunito Sans"/>
              </a:rPr>
              <a:t>Give feedback:</a:t>
            </a:r>
            <a:endParaRPr b="1" sz="2400">
              <a:latin typeface="Nunito Sans"/>
              <a:ea typeface="Nunito Sans"/>
              <a:cs typeface="Nunito Sans"/>
              <a:sym typeface="Nunito Sans"/>
            </a:endParaRPr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 Sans"/>
              <a:buChar char="-"/>
            </a:pPr>
            <a:r>
              <a:rPr lang="en" sz="2400">
                <a:latin typeface="Nunito Sans"/>
                <a:ea typeface="Nunito Sans"/>
                <a:cs typeface="Nunito Sans"/>
                <a:sym typeface="Nunito Sans"/>
              </a:rPr>
              <a:t>Is the goal ambitious - could it be developed further?</a:t>
            </a:r>
            <a:endParaRPr sz="2400">
              <a:latin typeface="Nunito Sans"/>
              <a:ea typeface="Nunito Sans"/>
              <a:cs typeface="Nunito Sans"/>
              <a:sym typeface="Nunito Sans"/>
            </a:endParaRPr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 Sans"/>
              <a:buChar char="-"/>
            </a:pPr>
            <a:r>
              <a:rPr lang="en" sz="2400">
                <a:latin typeface="Nunito Sans"/>
                <a:ea typeface="Nunito Sans"/>
                <a:cs typeface="Nunito Sans"/>
                <a:sym typeface="Nunito Sans"/>
              </a:rPr>
              <a:t>Is the goal specific?</a:t>
            </a:r>
            <a:endParaRPr sz="2400">
              <a:latin typeface="Nunito Sans"/>
              <a:ea typeface="Nunito Sans"/>
              <a:cs typeface="Nunito Sans"/>
              <a:sym typeface="Nunito Sans"/>
            </a:endParaRPr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 Sans"/>
              <a:buChar char="-"/>
            </a:pPr>
            <a:r>
              <a:rPr lang="en" sz="2400">
                <a:latin typeface="Nunito Sans"/>
                <a:ea typeface="Nunito Sans"/>
                <a:cs typeface="Nunito Sans"/>
                <a:sym typeface="Nunito Sans"/>
              </a:rPr>
              <a:t>Is there a personal connection?</a:t>
            </a:r>
            <a:endParaRPr sz="2400">
              <a:latin typeface="Nunito Sans"/>
              <a:ea typeface="Nunito Sans"/>
              <a:cs typeface="Nunito Sans"/>
              <a:sym typeface="Nunito Sans"/>
            </a:endParaRPr>
          </a:p>
          <a:p>
            <a:pPr indent="-36576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Nunito Sans"/>
              <a:buChar char="-"/>
            </a:pPr>
            <a:r>
              <a:rPr lang="en" sz="2400">
                <a:latin typeface="Nunito Sans"/>
                <a:ea typeface="Nunito Sans"/>
                <a:cs typeface="Nunito Sans"/>
                <a:sym typeface="Nunito Sans"/>
              </a:rPr>
              <a:t>Is the goal realistic/achievable in the timeframe.</a:t>
            </a:r>
            <a:endParaRPr sz="240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76" name="Google Shape;17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8" y="4285074"/>
            <a:ext cx="2317199" cy="2317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294225" y="209700"/>
            <a:ext cx="8219700" cy="925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Open Sans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400"/>
              <a:buFont typeface="Open Sans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Criterion A: Setting a goal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2" name="Google Shape;182;p27"/>
          <p:cNvGrpSpPr/>
          <p:nvPr/>
        </p:nvGrpSpPr>
        <p:grpSpPr>
          <a:xfrm>
            <a:off x="424698" y="2571839"/>
            <a:ext cx="7958755" cy="2251607"/>
            <a:chOff x="4398" y="1131659"/>
            <a:chExt cx="7958755" cy="2251607"/>
          </a:xfrm>
        </p:grpSpPr>
        <p:sp>
          <p:nvSpPr>
            <p:cNvPr id="183" name="Google Shape;183;p27"/>
            <p:cNvSpPr/>
            <p:nvPr/>
          </p:nvSpPr>
          <p:spPr>
            <a:xfrm>
              <a:off x="4398" y="1508429"/>
              <a:ext cx="2094300" cy="1497900"/>
            </a:xfrm>
            <a:prstGeom prst="roundRect">
              <a:avLst>
                <a:gd fmla="val 10000" name="adj"/>
              </a:avLst>
            </a:prstGeom>
            <a:solidFill>
              <a:schemeClr val="accent3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7"/>
            <p:cNvSpPr txBox="1"/>
            <p:nvPr/>
          </p:nvSpPr>
          <p:spPr>
            <a:xfrm>
              <a:off x="48273" y="1552304"/>
              <a:ext cx="2006700" cy="14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goal consists of </a:t>
              </a:r>
              <a:r>
                <a:rPr b="1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two interrelated components.</a:t>
              </a:r>
              <a:endPara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7"/>
            <p:cNvSpPr/>
            <p:nvPr/>
          </p:nvSpPr>
          <p:spPr>
            <a:xfrm rot="-2142021">
              <a:off x="2001865" y="1935518"/>
              <a:ext cx="1031795" cy="4171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rgbClr val="00B4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 txBox="1"/>
            <p:nvPr/>
          </p:nvSpPr>
          <p:spPr>
            <a:xfrm rot="-2132261">
              <a:off x="2491931" y="1930649"/>
              <a:ext cx="51614" cy="516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2936626" y="1131659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rgbClr val="00B4C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 txBox="1"/>
            <p:nvPr/>
          </p:nvSpPr>
          <p:spPr>
            <a:xfrm>
              <a:off x="2967298" y="1162331"/>
              <a:ext cx="20331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Learning goal </a:t>
              </a:r>
              <a:endPara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5031073" y="1634395"/>
              <a:ext cx="837900" cy="4170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7"/>
            <p:cNvSpPr txBox="1"/>
            <p:nvPr/>
          </p:nvSpPr>
          <p:spPr>
            <a:xfrm>
              <a:off x="5429019" y="1634326"/>
              <a:ext cx="42000" cy="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5868853" y="1131659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7"/>
            <p:cNvSpPr txBox="1"/>
            <p:nvPr/>
          </p:nvSpPr>
          <p:spPr>
            <a:xfrm>
              <a:off x="5899525" y="1162331"/>
              <a:ext cx="2033100" cy="9858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do you want to learn about?</a:t>
              </a:r>
              <a:endParaRPr/>
            </a:p>
          </p:txBody>
        </p:sp>
        <p:sp>
          <p:nvSpPr>
            <p:cNvPr id="193" name="Google Shape;193;p27"/>
            <p:cNvSpPr/>
            <p:nvPr/>
          </p:nvSpPr>
          <p:spPr>
            <a:xfrm rot="2142021">
              <a:off x="2001933" y="2537619"/>
              <a:ext cx="1031795" cy="4171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rgbClr val="00B4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7"/>
            <p:cNvSpPr txBox="1"/>
            <p:nvPr/>
          </p:nvSpPr>
          <p:spPr>
            <a:xfrm rot="2132261">
              <a:off x="2492038" y="2532696"/>
              <a:ext cx="51614" cy="516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2936626" y="2335966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rgbClr val="00B4C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7"/>
            <p:cNvSpPr txBox="1"/>
            <p:nvPr/>
          </p:nvSpPr>
          <p:spPr>
            <a:xfrm>
              <a:off x="2967298" y="2366638"/>
              <a:ext cx="2033100" cy="9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Product goal</a:t>
              </a:r>
              <a:endParaRPr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5031073" y="2838703"/>
              <a:ext cx="837900" cy="41700"/>
            </a:xfrm>
            <a:custGeom>
              <a:rect b="b" l="l" r="r" t="t"/>
              <a:pathLst>
                <a:path extrusionOk="0" h="120000" w="120000">
                  <a:moveTo>
                    <a:pt x="0" y="59999"/>
                  </a:moveTo>
                  <a:lnTo>
                    <a:pt x="120000" y="59999"/>
                  </a:lnTo>
                </a:path>
              </a:pathLst>
            </a:custGeom>
            <a:noFill/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7"/>
            <p:cNvSpPr txBox="1"/>
            <p:nvPr/>
          </p:nvSpPr>
          <p:spPr>
            <a:xfrm>
              <a:off x="5429019" y="2838634"/>
              <a:ext cx="42000" cy="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5868853" y="2335966"/>
              <a:ext cx="2094300" cy="1047300"/>
            </a:xfrm>
            <a:prstGeom prst="roundRect">
              <a:avLst>
                <a:gd fmla="val 10000" name="adj"/>
              </a:avLst>
            </a:prstGeom>
            <a:solidFill>
              <a:schemeClr val="accent6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7"/>
            <p:cNvSpPr txBox="1"/>
            <p:nvPr/>
          </p:nvSpPr>
          <p:spPr>
            <a:xfrm>
              <a:off x="5899525" y="2366638"/>
              <a:ext cx="2033100" cy="985800"/>
            </a:xfrm>
            <a:prstGeom prst="rect">
              <a:avLst/>
            </a:prstGeom>
            <a:solidFill>
              <a:srgbClr val="6AA84F"/>
            </a:solidFill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1" lang="en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do you want to create?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-107400" y="3774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Learning goal ↔ Product goal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875" y="1548648"/>
            <a:ext cx="8354249" cy="441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285750" y="403425"/>
            <a:ext cx="78840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Your turn to discuss…</a:t>
            </a:r>
            <a:endParaRPr/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388000" y="6516000"/>
            <a:ext cx="252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29"/>
          <p:cNvSpPr txBox="1"/>
          <p:nvPr>
            <p:ph idx="3" type="body"/>
          </p:nvPr>
        </p:nvSpPr>
        <p:spPr>
          <a:xfrm>
            <a:off x="624500" y="2005399"/>
            <a:ext cx="78840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200"/>
              <a:t>If your </a:t>
            </a:r>
            <a:r>
              <a:rPr b="1" lang="en" sz="2200"/>
              <a:t>learning goal </a:t>
            </a:r>
            <a:r>
              <a:rPr lang="en" sz="2200"/>
              <a:t>is to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i="1" lang="en" sz="2200"/>
              <a:t>find out more about making a personal computer</a:t>
            </a:r>
            <a:endParaRPr i="1" sz="2200"/>
          </a:p>
        </p:txBody>
      </p:sp>
      <p:sp>
        <p:nvSpPr>
          <p:cNvPr id="217" name="Google Shape;217;p29"/>
          <p:cNvSpPr txBox="1"/>
          <p:nvPr/>
        </p:nvSpPr>
        <p:spPr>
          <a:xfrm>
            <a:off x="386600" y="3662325"/>
            <a:ext cx="8121900" cy="22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3986600" y="3068916"/>
            <a:ext cx="1159800" cy="1193400"/>
          </a:xfrm>
          <a:prstGeom prst="downArrow">
            <a:avLst>
              <a:gd fmla="val 50000" name="adj1"/>
              <a:gd fmla="val 47825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624500" y="4579791"/>
            <a:ext cx="78840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What kinds of </a:t>
            </a:r>
            <a:r>
              <a:rPr b="1" i="0" lang="en" sz="2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product goals </a:t>
            </a:r>
            <a:r>
              <a:rPr b="0" i="0" lang="en" sz="2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could you set?</a:t>
            </a:r>
            <a:endParaRPr b="0" i="1" sz="2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285750" y="403425"/>
            <a:ext cx="78840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/>
              <a:t>Your turn to discuss …</a:t>
            </a:r>
            <a:endParaRPr/>
          </a:p>
        </p:txBody>
      </p:sp>
      <p:sp>
        <p:nvSpPr>
          <p:cNvPr id="226" name="Google Shape;226;p30"/>
          <p:cNvSpPr txBox="1"/>
          <p:nvPr>
            <p:ph idx="12" type="sldNum"/>
          </p:nvPr>
        </p:nvSpPr>
        <p:spPr>
          <a:xfrm>
            <a:off x="8388000" y="6516000"/>
            <a:ext cx="252000" cy="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0"/>
          <p:cNvSpPr txBox="1"/>
          <p:nvPr>
            <p:ph idx="3" type="body"/>
          </p:nvPr>
        </p:nvSpPr>
        <p:spPr>
          <a:xfrm>
            <a:off x="624500" y="2018651"/>
            <a:ext cx="78840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200"/>
              <a:t>If your </a:t>
            </a:r>
            <a:r>
              <a:rPr b="1" lang="en" sz="2200"/>
              <a:t>product goal </a:t>
            </a:r>
            <a:r>
              <a:rPr lang="en" sz="2200"/>
              <a:t>is to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i="1" lang="en" sz="2200"/>
              <a:t>Write, record and produce an original song</a:t>
            </a:r>
            <a:endParaRPr i="1" sz="2200"/>
          </a:p>
        </p:txBody>
      </p:sp>
      <p:sp>
        <p:nvSpPr>
          <p:cNvPr id="228" name="Google Shape;228;p30"/>
          <p:cNvSpPr txBox="1"/>
          <p:nvPr/>
        </p:nvSpPr>
        <p:spPr>
          <a:xfrm>
            <a:off x="386600" y="3662325"/>
            <a:ext cx="8121900" cy="22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30"/>
          <p:cNvSpPr/>
          <p:nvPr/>
        </p:nvSpPr>
        <p:spPr>
          <a:xfrm>
            <a:off x="3986600" y="3068916"/>
            <a:ext cx="1159800" cy="1193400"/>
          </a:xfrm>
          <a:prstGeom prst="downArrow">
            <a:avLst>
              <a:gd fmla="val 50000" name="adj1"/>
              <a:gd fmla="val 47825" name="adj2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0"/>
          <p:cNvSpPr txBox="1"/>
          <p:nvPr/>
        </p:nvSpPr>
        <p:spPr>
          <a:xfrm>
            <a:off x="624500" y="4553285"/>
            <a:ext cx="78840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</a:pPr>
            <a:r>
              <a:rPr b="0" i="0" lang="en" sz="2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What kinds of </a:t>
            </a:r>
            <a:r>
              <a:rPr b="1" i="0" lang="en" sz="2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learning goals </a:t>
            </a:r>
            <a:r>
              <a:rPr b="0" i="0" lang="en" sz="2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could you set?</a:t>
            </a:r>
            <a:endParaRPr b="0" i="1" sz="2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>
            <p:ph idx="1" type="body"/>
          </p:nvPr>
        </p:nvSpPr>
        <p:spPr>
          <a:xfrm>
            <a:off x="4572000" y="1191210"/>
            <a:ext cx="3851400" cy="43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b="1" lang="en" sz="3400">
                <a:solidFill>
                  <a:schemeClr val="accent2"/>
                </a:solidFill>
              </a:rPr>
              <a:t>Curiosity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lang="en" sz="2200"/>
              <a:t>“I have been wondering about ...” </a:t>
            </a:r>
            <a:endParaRPr sz="2200"/>
          </a:p>
          <a:p>
            <a:pPr indent="-1397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-1100775" y="821225"/>
            <a:ext cx="5032200" cy="5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" name="Google Shape;2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485" y="1048998"/>
            <a:ext cx="3056940" cy="4585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2125" y="483475"/>
            <a:ext cx="3510377" cy="530339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2"/>
          <p:cNvSpPr txBox="1"/>
          <p:nvPr>
            <p:ph idx="1" type="body"/>
          </p:nvPr>
        </p:nvSpPr>
        <p:spPr>
          <a:xfrm>
            <a:off x="560070" y="984685"/>
            <a:ext cx="3851400" cy="43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b="1" lang="en" sz="3400">
                <a:solidFill>
                  <a:schemeClr val="accent2"/>
                </a:solidFill>
              </a:rPr>
              <a:t>Challenge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lang="en" sz="2200"/>
              <a:t>“I have always wanted to try ...” </a:t>
            </a:r>
            <a:endParaRPr sz="2200"/>
          </a:p>
          <a:p>
            <a:pPr indent="-1397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4849" y="640139"/>
            <a:ext cx="3535601" cy="5303401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4843552" y="1278512"/>
            <a:ext cx="3851400" cy="43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b="1" lang="en" sz="3400">
                <a:solidFill>
                  <a:schemeClr val="accent2"/>
                </a:solidFill>
              </a:rPr>
              <a:t>Passion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lang="en" sz="2200"/>
              <a:t>“I would love to …”</a:t>
            </a:r>
            <a:endParaRPr sz="2200"/>
          </a:p>
          <a:p>
            <a:pPr indent="-1397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0950" y="548175"/>
            <a:ext cx="3513364" cy="530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629686" y="1049387"/>
            <a:ext cx="3851400" cy="43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b="1" lang="en" sz="3400">
                <a:solidFill>
                  <a:schemeClr val="accent2"/>
                </a:solidFill>
              </a:rPr>
              <a:t>Impact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3100"/>
              </a:spcBef>
              <a:spcAft>
                <a:spcPts val="0"/>
              </a:spcAft>
              <a:buSzPts val="1800"/>
              <a:buNone/>
            </a:pPr>
            <a:r>
              <a:rPr lang="en" sz="2200"/>
              <a:t>“I can make the world a better place by …”</a:t>
            </a:r>
            <a:endParaRPr sz="2200"/>
          </a:p>
          <a:p>
            <a:pPr indent="-139700" lvl="0" marL="34290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4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/>
        </p:nvSpPr>
        <p:spPr>
          <a:xfrm>
            <a:off x="278250" y="402525"/>
            <a:ext cx="8587500" cy="317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Exit Ticket:</a:t>
            </a:r>
            <a:endParaRPr b="1" sz="2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 a post-it-note write down 1 question that you have about personal project.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will make sure to answer these over our coming lessons.</a:t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